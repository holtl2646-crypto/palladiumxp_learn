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5D63F-3E45-8C54-3CE4-FAC416F140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2F2FFB0-0866-88D3-C3F0-99048377B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A42E40-9E56-429B-3522-39B5C3A3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26EB-A9C0-406C-B632-0C96E5E9BF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3018BD-933F-EE6C-504F-FAFE4417A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3B172-B631-EAAB-AFED-F25184301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A4E1-D4D7-43B3-9E02-24D97FC0C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8188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8E8D2D-128D-CC72-74FA-E8314E00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948127-2B3E-A0A3-7B5C-D0D5FF7C3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64DFA2-C822-BB87-AD27-6AAFF1F51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26EB-A9C0-406C-B632-0C96E5E9BF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E2A775-D2BD-F585-93E6-10C69A50F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1C622F-C66F-972A-6443-B4A023AE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A4E1-D4D7-43B3-9E02-24D97FC0C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36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A8F334-7163-56A3-F9E8-4FD1E0C61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BFC267-CE66-3A90-D247-BFDD5462B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D8CA2B-58A5-E179-D339-FC48D5025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26EB-A9C0-406C-B632-0C96E5E9BF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CD5080-667E-0AEC-D5A1-9843C2FBE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ECE5E5-C00D-19E0-19CF-05400ADDF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A4E1-D4D7-43B3-9E02-24D97FC0C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8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0ACCD6-B330-11BF-F7DD-5BEC3C6F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765E2-0AD6-77D9-1C06-857C6C6AE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64D314-A99E-2E51-1659-03A4C310E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085814C-EE7A-438B-F7AC-CE428AB17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26EB-A9C0-406C-B632-0C96E5E9BF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495F3A-EB9B-C08D-BCBC-C8732A9A0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233B5B-53D7-06DC-2AAC-392DED4D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A4E1-D4D7-43B3-9E02-24D97FC0C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178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050FD3-F9BA-3D0F-8327-B747A33B3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3C6BF2-B642-EC0B-364B-ADC71A8BE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6F992E-790D-0CAB-65FA-B3F3F92F1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F7F0894-5186-0509-F6A6-2EA3C5D340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58FFF0D-9355-2D5A-5C62-1C6A394A06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A55DC9-40E4-BE1A-7DEB-A593C0AF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26EB-A9C0-406C-B632-0C96E5E9BF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2F52D17-633D-9C56-DEB8-518F46467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A8F4F5-1C04-115A-C08B-01759710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A4E1-D4D7-43B3-9E02-24D97FC0C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508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FF084A-B6EA-0734-69F2-9D96CEAE5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CC2AA4-3949-09B9-D04C-D69FBB03D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26EB-A9C0-406C-B632-0C96E5E9BF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F91B2C-9213-C258-1DB3-473C17084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971EDE-0BC0-C70C-C60B-50F02D4D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A4E1-D4D7-43B3-9E02-24D97FC0C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90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23425D9-3331-5DAD-CECC-6CD241B85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26EB-A9C0-406C-B632-0C96E5E9BF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2827AE0-8A54-E9E2-C880-96E8C0608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D23429-D2E8-7DF2-DA27-EB63E83A5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A4E1-D4D7-43B3-9E02-24D97FC0C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438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B588D-7D53-C0BF-ED3F-D20628608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01505D-C6B3-F610-AB8A-576BBEA3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1C71F41-A841-10C9-3850-F7EC1C923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DFE063-6AD8-7CEB-655F-32FD9B03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26EB-A9C0-406C-B632-0C96E5E9BF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0CED4D-B87A-2C31-7643-7BC7E801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91936B-B963-82CE-6AD4-23516F26C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A4E1-D4D7-43B3-9E02-24D97FC0C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604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DD3A8E-468A-20DE-59E8-008783A6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6F8B525-4514-3554-6DBB-B6C701758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C4ABB9A-D8DF-BC09-BCF6-564475C0F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51B984E-36EA-2B2F-31DB-AE4B9384F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26EB-A9C0-406C-B632-0C96E5E9BF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0E9EC1-FC0D-B39B-7184-4B1C3478A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0881F8-A624-B33A-67B8-DFADAAB3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A4E1-D4D7-43B3-9E02-24D97FC0C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196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69DC32-E1B2-1C28-95D0-A7CEC1344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DC5743-0B27-9ABC-F1DB-BE67F9554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CA948A-3EF1-D054-B9ED-3BF852EB0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26EB-A9C0-406C-B632-0C96E5E9BF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E9ED7A-8FC4-CE80-35E6-4EB1BB3EB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884818-CFEE-CB74-D96A-95A0A06A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A4E1-D4D7-43B3-9E02-24D97FC0C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349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32CC2C-99F8-14EF-4050-A8831EC07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0B28C4-BA87-AFC8-7D19-4C0B6BB8A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6362C4-349B-9EB7-622B-DABB5FE3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926EB-A9C0-406C-B632-0C96E5E9BF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4F18CC-C060-D9ED-0C33-9C101C4A9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0A315C-B2C6-C9E1-289D-A204FA0C8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CFA4E1-D4D7-43B3-9E02-24D97FC0C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26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AB02900-6198-78BD-A26A-D1BCB16E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0C172C-65DF-8EA3-EA95-F555DD436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658C56-D25F-B8A8-5B5F-934F17107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926EB-A9C0-406C-B632-0C96E5E9BF14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CE9F6F-F284-0CF2-6492-16301CD26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383376-E2B5-A012-53F0-4250E13B5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CFA4E1-D4D7-43B3-9E02-24D97FC0C1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5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A0D30EE-9032-0C5B-7CC9-CB58F6B2EB60}"/>
              </a:ext>
            </a:extLst>
          </p:cNvPr>
          <p:cNvSpPr txBox="1"/>
          <p:nvPr/>
        </p:nvSpPr>
        <p:spPr>
          <a:xfrm>
            <a:off x="660400" y="355600"/>
            <a:ext cx="1092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100" b="1">
                <a:solidFill>
                  <a:srgbClr val="2A9DBC"/>
                </a:solidFill>
                <a:latin typeface="Microsoft YaHei" panose="020B0503020204020204" pitchFamily="34" charset="-122"/>
              </a:rPr>
              <a:t>技术评审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409D489-64BB-F663-87EF-CE5BEEA1A783}"/>
              </a:ext>
            </a:extLst>
          </p:cNvPr>
          <p:cNvSpPr txBox="1"/>
          <p:nvPr/>
        </p:nvSpPr>
        <p:spPr>
          <a:xfrm>
            <a:off x="635000" y="635000"/>
            <a:ext cx="10922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"sc_idu_to_fxu" PalladiumXP SA </a:t>
            </a:r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硬件加速验证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41E4F7-B403-ADFE-8284-2C946BDE62C7}"/>
              </a:ext>
            </a:extLst>
          </p:cNvPr>
          <p:cNvSpPr/>
          <p:nvPr/>
        </p:nvSpPr>
        <p:spPr>
          <a:xfrm>
            <a:off x="660400" y="1371600"/>
            <a:ext cx="812800" cy="381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95FC78-B02C-A115-BB76-AB04731190C8}"/>
              </a:ext>
            </a:extLst>
          </p:cNvPr>
          <p:cNvSpPr txBox="1"/>
          <p:nvPr/>
        </p:nvSpPr>
        <p:spPr>
          <a:xfrm>
            <a:off x="9321800" y="6502400"/>
            <a:ext cx="2286000" cy="25135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800">
                <a:solidFill>
                  <a:srgbClr val="636F82"/>
                </a:solidFill>
                <a:latin typeface="Microsoft YaHei" panose="020B0503020204020204" pitchFamily="34" charset="-122"/>
              </a:rPr>
              <a:t>PXP technical review | 1</a:t>
            </a:r>
            <a:endParaRPr lang="zh-CN" altLang="en-US" sz="800">
              <a:solidFill>
                <a:srgbClr val="636F8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687548C-8612-D13A-B85B-1C755C73DEDF}"/>
              </a:ext>
            </a:extLst>
          </p:cNvPr>
          <p:cNvSpPr txBox="1"/>
          <p:nvPr/>
        </p:nvSpPr>
        <p:spPr>
          <a:xfrm>
            <a:off x="685800" y="1651000"/>
            <a:ext cx="10668000" cy="682238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b="1">
                <a:solidFill>
                  <a:srgbClr val="142C48"/>
                </a:solidFill>
                <a:latin typeface="Microsoft YaHei" panose="020B0503020204020204" pitchFamily="34" charset="-122"/>
              </a:rPr>
              <a:t>结论：</a:t>
            </a:r>
            <a:r>
              <a:rPr lang="en-US" altLang="zh-CN" b="1">
                <a:solidFill>
                  <a:srgbClr val="142C48"/>
                </a:solidFill>
                <a:latin typeface="Microsoft YaHei" panose="020B0503020204020204" pitchFamily="34" charset="-122"/>
              </a:rPr>
              <a:t>PXP SA </a:t>
            </a:r>
            <a:r>
              <a:rPr lang="zh-CN" altLang="en-US" b="1">
                <a:solidFill>
                  <a:srgbClr val="142C48"/>
                </a:solidFill>
                <a:latin typeface="Microsoft YaHei" panose="020B0503020204020204" pitchFamily="34" charset="-122"/>
              </a:rPr>
              <a:t>链路已真实跑通，</a:t>
            </a:r>
            <a:r>
              <a:rPr lang="en-US" altLang="zh-CN" b="1">
                <a:solidFill>
                  <a:srgbClr val="142C48"/>
                </a:solidFill>
                <a:latin typeface="Microsoft YaHei" panose="020B0503020204020204" pitchFamily="34" charset="-122"/>
              </a:rPr>
              <a:t>1M/5M/10M stress </a:t>
            </a:r>
            <a:r>
              <a:rPr lang="zh-CN" altLang="en-US" b="1">
                <a:solidFill>
                  <a:srgbClr val="142C48"/>
                </a:solidFill>
                <a:latin typeface="Microsoft YaHei" panose="020B0503020204020204" pitchFamily="34" charset="-122"/>
              </a:rPr>
              <a:t>均 </a:t>
            </a:r>
            <a:r>
              <a:rPr lang="en-US" altLang="zh-CN" b="1">
                <a:solidFill>
                  <a:srgbClr val="142C48"/>
                </a:solidFill>
                <a:latin typeface="Microsoft YaHei" panose="020B0503020204020204" pitchFamily="34" charset="-122"/>
              </a:rPr>
              <a:t>PASS</a:t>
            </a:r>
            <a:r>
              <a:rPr lang="zh-CN" altLang="en-US" b="1">
                <a:solidFill>
                  <a:srgbClr val="142C48"/>
                </a:solidFill>
                <a:latin typeface="Microsoft YaHei" panose="020B0503020204020204" pitchFamily="34" charset="-122"/>
              </a:rPr>
              <a:t>；端到端收益随 </a:t>
            </a:r>
            <a:r>
              <a:rPr lang="en-US" altLang="zh-CN" b="1">
                <a:solidFill>
                  <a:srgbClr val="142C48"/>
                </a:solidFill>
                <a:latin typeface="Microsoft YaHei" panose="020B0503020204020204" pitchFamily="34" charset="-122"/>
              </a:rPr>
              <a:t>workload </a:t>
            </a:r>
            <a:r>
              <a:rPr lang="zh-CN" altLang="en-US" b="1">
                <a:solidFill>
                  <a:srgbClr val="142C48"/>
                </a:solidFill>
                <a:latin typeface="Microsoft YaHei" panose="020B0503020204020204" pitchFamily="34" charset="-122"/>
              </a:rPr>
              <a:t>增大而提升。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80D820-33EF-9927-7D5A-C5CCD6EBA9EB}"/>
              </a:ext>
            </a:extLst>
          </p:cNvPr>
          <p:cNvSpPr/>
          <p:nvPr/>
        </p:nvSpPr>
        <p:spPr>
          <a:xfrm>
            <a:off x="889000" y="2692400"/>
            <a:ext cx="2984500" cy="14986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C1B01E-0D3C-21DE-7502-4F5E5EB40064}"/>
              </a:ext>
            </a:extLst>
          </p:cNvPr>
          <p:cNvSpPr/>
          <p:nvPr/>
        </p:nvSpPr>
        <p:spPr>
          <a:xfrm>
            <a:off x="889000" y="2692400"/>
            <a:ext cx="63500" cy="1498600"/>
          </a:xfrm>
          <a:prstGeom prst="rect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7F2245-F185-279D-C118-533C27552112}"/>
              </a:ext>
            </a:extLst>
          </p:cNvPr>
          <p:cNvSpPr txBox="1"/>
          <p:nvPr/>
        </p:nvSpPr>
        <p:spPr>
          <a:xfrm>
            <a:off x="1066800" y="2819400"/>
            <a:ext cx="26797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400" b="1">
                <a:solidFill>
                  <a:srgbClr val="2A6FB0"/>
                </a:solidFill>
                <a:latin typeface="Microsoft YaHei" panose="020B0503020204020204" pitchFamily="34" charset="-122"/>
              </a:rPr>
              <a:t>1M stress</a:t>
            </a:r>
            <a:endParaRPr lang="zh-CN" altLang="en-US" sz="1400" b="1">
              <a:solidFill>
                <a:srgbClr val="2A6FB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BFDEA9C-B107-51CB-ABF3-F5E677B61031}"/>
              </a:ext>
            </a:extLst>
          </p:cNvPr>
          <p:cNvSpPr txBox="1"/>
          <p:nvPr/>
        </p:nvSpPr>
        <p:spPr>
          <a:xfrm>
            <a:off x="1066800" y="3187700"/>
            <a:ext cx="2679700" cy="682238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End-to-end speedup
2.11x
PASS</a:t>
            </a:r>
            <a:endParaRPr lang="zh-CN" altLang="en-US" sz="12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6182ED-636D-7404-C459-1D2A1BA33A4C}"/>
              </a:ext>
            </a:extLst>
          </p:cNvPr>
          <p:cNvSpPr/>
          <p:nvPr/>
        </p:nvSpPr>
        <p:spPr>
          <a:xfrm>
            <a:off x="4597400" y="2692400"/>
            <a:ext cx="2984500" cy="14986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70176FB-337F-651C-29C2-66B674AEDBF3}"/>
              </a:ext>
            </a:extLst>
          </p:cNvPr>
          <p:cNvSpPr/>
          <p:nvPr/>
        </p:nvSpPr>
        <p:spPr>
          <a:xfrm>
            <a:off x="4597400" y="2692400"/>
            <a:ext cx="63500" cy="1498600"/>
          </a:xfrm>
          <a:prstGeom prst="rect">
            <a:avLst/>
          </a:prstGeom>
          <a:solidFill>
            <a:srgbClr val="2A9D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9C1948-31B8-0A7C-E245-46D3420E863D}"/>
              </a:ext>
            </a:extLst>
          </p:cNvPr>
          <p:cNvSpPr txBox="1"/>
          <p:nvPr/>
        </p:nvSpPr>
        <p:spPr>
          <a:xfrm>
            <a:off x="4775200" y="2819400"/>
            <a:ext cx="26797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400" b="1">
                <a:solidFill>
                  <a:srgbClr val="2A9DBC"/>
                </a:solidFill>
                <a:latin typeface="Microsoft YaHei" panose="020B0503020204020204" pitchFamily="34" charset="-122"/>
              </a:rPr>
              <a:t>5M stress</a:t>
            </a:r>
            <a:endParaRPr lang="zh-CN" altLang="en-US" sz="14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C19FAB9-753D-64FA-39BF-EBE5C0D1DEA7}"/>
              </a:ext>
            </a:extLst>
          </p:cNvPr>
          <p:cNvSpPr txBox="1"/>
          <p:nvPr/>
        </p:nvSpPr>
        <p:spPr>
          <a:xfrm>
            <a:off x="4775200" y="3187700"/>
            <a:ext cx="2679700" cy="682238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End-to-end speedup
3.27x
PASS</a:t>
            </a:r>
            <a:endParaRPr lang="zh-CN" altLang="en-US" sz="12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236086-8A43-5D5E-6AD4-3E23E66C7E81}"/>
              </a:ext>
            </a:extLst>
          </p:cNvPr>
          <p:cNvSpPr/>
          <p:nvPr/>
        </p:nvSpPr>
        <p:spPr>
          <a:xfrm>
            <a:off x="8305800" y="2692400"/>
            <a:ext cx="2984500" cy="14986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6F861C-428A-C7A7-7826-1B0A375FD94D}"/>
              </a:ext>
            </a:extLst>
          </p:cNvPr>
          <p:cNvSpPr/>
          <p:nvPr/>
        </p:nvSpPr>
        <p:spPr>
          <a:xfrm>
            <a:off x="8305800" y="2692400"/>
            <a:ext cx="63500" cy="1498600"/>
          </a:xfrm>
          <a:prstGeom prst="rect">
            <a:avLst/>
          </a:prstGeom>
          <a:solidFill>
            <a:srgbClr val="3E96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B15FCD0-56FF-E26C-3E06-455C9E513C60}"/>
              </a:ext>
            </a:extLst>
          </p:cNvPr>
          <p:cNvSpPr txBox="1"/>
          <p:nvPr/>
        </p:nvSpPr>
        <p:spPr>
          <a:xfrm>
            <a:off x="8483600" y="2819400"/>
            <a:ext cx="26797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400" b="1">
                <a:solidFill>
                  <a:srgbClr val="3E9668"/>
                </a:solidFill>
                <a:latin typeface="Microsoft YaHei" panose="020B0503020204020204" pitchFamily="34" charset="-122"/>
              </a:rPr>
              <a:t>10M stress</a:t>
            </a:r>
            <a:endParaRPr lang="zh-CN" altLang="en-US" sz="1400" b="1">
              <a:solidFill>
                <a:srgbClr val="3E966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B57BDFA-46CE-1594-8402-C660751D79DE}"/>
              </a:ext>
            </a:extLst>
          </p:cNvPr>
          <p:cNvSpPr txBox="1"/>
          <p:nvPr/>
        </p:nvSpPr>
        <p:spPr>
          <a:xfrm>
            <a:off x="8483600" y="3187700"/>
            <a:ext cx="2679700" cy="682238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End-to-end speedup
3.66x
PASS</a:t>
            </a:r>
            <a:endParaRPr lang="zh-CN" altLang="en-US" sz="12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F6F4C9B-4E88-0604-3D9D-A0C6956E1806}"/>
              </a:ext>
            </a:extLst>
          </p:cNvPr>
          <p:cNvSpPr txBox="1"/>
          <p:nvPr/>
        </p:nvSpPr>
        <p:spPr>
          <a:xfrm>
            <a:off x="889000" y="4673600"/>
            <a:ext cx="10414000" cy="66684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关键证据不是 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irun -hw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，而是 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xc on -run -xt0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后的 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swap-in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HW exec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日志。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当前瓶颈来自 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IXCOM SA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边界同步、事件传输和 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visibility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开销。</a:t>
            </a:r>
          </a:p>
        </p:txBody>
      </p:sp>
    </p:spTree>
    <p:extLst>
      <p:ext uri="{BB962C8B-B14F-4D97-AF65-F5344CB8AC3E}">
        <p14:creationId xmlns:p14="http://schemas.microsoft.com/office/powerpoint/2010/main" val="2736441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B6A673C-AE6D-2178-080E-7BE562D992BF}"/>
              </a:ext>
            </a:extLst>
          </p:cNvPr>
          <p:cNvSpPr txBox="1"/>
          <p:nvPr/>
        </p:nvSpPr>
        <p:spPr>
          <a:xfrm>
            <a:off x="660400" y="355600"/>
            <a:ext cx="1092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100" b="1">
                <a:solidFill>
                  <a:srgbClr val="2A9DBC"/>
                </a:solidFill>
                <a:latin typeface="Microsoft YaHei" panose="020B0503020204020204" pitchFamily="34" charset="-122"/>
              </a:rPr>
              <a:t>DUT / tool / access path</a:t>
            </a:r>
            <a:endParaRPr lang="zh-CN" altLang="en-US" sz="11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275FA1-D67C-0FA2-B6B5-D625A2C57556}"/>
              </a:ext>
            </a:extLst>
          </p:cNvPr>
          <p:cNvSpPr txBox="1"/>
          <p:nvPr/>
        </p:nvSpPr>
        <p:spPr>
          <a:xfrm>
            <a:off x="635000" y="635000"/>
            <a:ext cx="10922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验证目标与环境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D08FB2-887A-66F9-E24D-C6A2D267341A}"/>
              </a:ext>
            </a:extLst>
          </p:cNvPr>
          <p:cNvSpPr/>
          <p:nvPr/>
        </p:nvSpPr>
        <p:spPr>
          <a:xfrm>
            <a:off x="660400" y="1371600"/>
            <a:ext cx="812800" cy="381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B3D54F0-3B89-7DC3-ECB3-E71BE42A19EB}"/>
              </a:ext>
            </a:extLst>
          </p:cNvPr>
          <p:cNvSpPr txBox="1"/>
          <p:nvPr/>
        </p:nvSpPr>
        <p:spPr>
          <a:xfrm>
            <a:off x="9321800" y="6502400"/>
            <a:ext cx="2286000" cy="25135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800">
                <a:solidFill>
                  <a:srgbClr val="636F82"/>
                </a:solidFill>
                <a:latin typeface="Microsoft YaHei" panose="020B0503020204020204" pitchFamily="34" charset="-122"/>
              </a:rPr>
              <a:t>PXP technical review | 2</a:t>
            </a:r>
            <a:endParaRPr lang="zh-CN" altLang="en-US" sz="800">
              <a:solidFill>
                <a:srgbClr val="636F8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DFC51F-34FA-E218-EB43-C75E68D6FE18}"/>
              </a:ext>
            </a:extLst>
          </p:cNvPr>
          <p:cNvSpPr/>
          <p:nvPr/>
        </p:nvSpPr>
        <p:spPr>
          <a:xfrm>
            <a:off x="812800" y="1778000"/>
            <a:ext cx="2470150" cy="9652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831F9C7-D876-85D1-B26C-EB0BCFEB7E93}"/>
              </a:ext>
            </a:extLst>
          </p:cNvPr>
          <p:cNvSpPr txBox="1"/>
          <p:nvPr/>
        </p:nvSpPr>
        <p:spPr>
          <a:xfrm>
            <a:off x="889000" y="1879600"/>
            <a:ext cx="231775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Windows PC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20895A09-6F81-192F-BD28-910070E18E79}"/>
              </a:ext>
            </a:extLst>
          </p:cNvPr>
          <p:cNvSpPr/>
          <p:nvPr/>
        </p:nvSpPr>
        <p:spPr>
          <a:xfrm>
            <a:off x="3308350" y="21844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F022EBB-B935-4900-EFC5-CEBD40897021}"/>
              </a:ext>
            </a:extLst>
          </p:cNvPr>
          <p:cNvSpPr/>
          <p:nvPr/>
        </p:nvSpPr>
        <p:spPr>
          <a:xfrm>
            <a:off x="3511550" y="1778000"/>
            <a:ext cx="2470150" cy="9652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2A62BC-413B-0606-040F-E8B6FB50DABA}"/>
              </a:ext>
            </a:extLst>
          </p:cNvPr>
          <p:cNvSpPr txBox="1"/>
          <p:nvPr/>
        </p:nvSpPr>
        <p:spPr>
          <a:xfrm>
            <a:off x="3587750" y="1879600"/>
            <a:ext cx="231775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VNC
&lt;jump-host&gt;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567FB7C7-2338-3612-CB9C-3B1CB29F35DA}"/>
              </a:ext>
            </a:extLst>
          </p:cNvPr>
          <p:cNvSpPr/>
          <p:nvPr/>
        </p:nvSpPr>
        <p:spPr>
          <a:xfrm>
            <a:off x="6007100" y="21844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84154E7-3F91-09B0-B6EF-3BDD893B2FAF}"/>
              </a:ext>
            </a:extLst>
          </p:cNvPr>
          <p:cNvSpPr/>
          <p:nvPr/>
        </p:nvSpPr>
        <p:spPr>
          <a:xfrm>
            <a:off x="6210300" y="1778000"/>
            <a:ext cx="2470150" cy="9652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3651CE-5378-8555-C018-1E2BA803CD37}"/>
              </a:ext>
            </a:extLst>
          </p:cNvPr>
          <p:cNvSpPr txBox="1"/>
          <p:nvPr/>
        </p:nvSpPr>
        <p:spPr>
          <a:xfrm>
            <a:off x="6286500" y="1879600"/>
            <a:ext cx="231775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SSH
&lt;pxp-host&gt;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CFE78D0E-8C2B-EF3A-9A5F-E65D69ACE113}"/>
              </a:ext>
            </a:extLst>
          </p:cNvPr>
          <p:cNvSpPr/>
          <p:nvPr/>
        </p:nvSpPr>
        <p:spPr>
          <a:xfrm>
            <a:off x="8705850" y="21844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735D91E-3A01-D959-D7CD-48381DA49598}"/>
              </a:ext>
            </a:extLst>
          </p:cNvPr>
          <p:cNvSpPr/>
          <p:nvPr/>
        </p:nvSpPr>
        <p:spPr>
          <a:xfrm>
            <a:off x="8909050" y="1778000"/>
            <a:ext cx="2470150" cy="9652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23E6CFF-A7BE-DA5F-46FA-52112AF99510}"/>
              </a:ext>
            </a:extLst>
          </p:cNvPr>
          <p:cNvSpPr txBox="1"/>
          <p:nvPr/>
        </p:nvSpPr>
        <p:spPr>
          <a:xfrm>
            <a:off x="8985250" y="1879600"/>
            <a:ext cx="231775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PXP case
sc_idu_to_fxu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1A4FF4E-CF37-4909-8ABE-68350B522FF2}"/>
              </a:ext>
            </a:extLst>
          </p:cNvPr>
          <p:cNvSpPr/>
          <p:nvPr/>
        </p:nvSpPr>
        <p:spPr>
          <a:xfrm>
            <a:off x="889000" y="3200400"/>
            <a:ext cx="2413000" cy="11684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6098B3B-A9F5-4CAC-25EE-79823401BB65}"/>
              </a:ext>
            </a:extLst>
          </p:cNvPr>
          <p:cNvSpPr/>
          <p:nvPr/>
        </p:nvSpPr>
        <p:spPr>
          <a:xfrm>
            <a:off x="889000" y="3200400"/>
            <a:ext cx="63500" cy="1168400"/>
          </a:xfrm>
          <a:prstGeom prst="rect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C63BA14-DACF-2177-27D9-2217CB390D38}"/>
              </a:ext>
            </a:extLst>
          </p:cNvPr>
          <p:cNvSpPr txBox="1"/>
          <p:nvPr/>
        </p:nvSpPr>
        <p:spPr>
          <a:xfrm>
            <a:off x="1066800" y="3327400"/>
            <a:ext cx="2108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400" b="1">
                <a:solidFill>
                  <a:srgbClr val="2A6FB0"/>
                </a:solidFill>
                <a:latin typeface="Microsoft YaHei" panose="020B0503020204020204" pitchFamily="34" charset="-122"/>
              </a:rPr>
              <a:t>DUT</a:t>
            </a:r>
            <a:endParaRPr lang="zh-CN" altLang="en-US" sz="1400" b="1">
              <a:solidFill>
                <a:srgbClr val="2A6FB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3B3B2AC-A9FB-B9A5-201A-3A0D1AAE43FE}"/>
              </a:ext>
            </a:extLst>
          </p:cNvPr>
          <p:cNvSpPr txBox="1"/>
          <p:nvPr/>
        </p:nvSpPr>
        <p:spPr>
          <a:xfrm>
            <a:off x="1066800" y="3695700"/>
            <a:ext cx="2108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"sc_idu_to_fxu"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浮点执行单元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F559D12-47F7-B738-E2AB-4BEB7267A42D}"/>
              </a:ext>
            </a:extLst>
          </p:cNvPr>
          <p:cNvSpPr/>
          <p:nvPr/>
        </p:nvSpPr>
        <p:spPr>
          <a:xfrm>
            <a:off x="3581400" y="3200400"/>
            <a:ext cx="2413000" cy="11684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C1B4252-C969-BCC1-F3A1-2849FDAFF9DA}"/>
              </a:ext>
            </a:extLst>
          </p:cNvPr>
          <p:cNvSpPr/>
          <p:nvPr/>
        </p:nvSpPr>
        <p:spPr>
          <a:xfrm>
            <a:off x="3581400" y="3200400"/>
            <a:ext cx="63500" cy="1168400"/>
          </a:xfrm>
          <a:prstGeom prst="rect">
            <a:avLst/>
          </a:prstGeom>
          <a:solidFill>
            <a:srgbClr val="2A9D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0204A6B-B252-FAE3-7359-258567434037}"/>
              </a:ext>
            </a:extLst>
          </p:cNvPr>
          <p:cNvSpPr txBox="1"/>
          <p:nvPr/>
        </p:nvSpPr>
        <p:spPr>
          <a:xfrm>
            <a:off x="3759200" y="3327400"/>
            <a:ext cx="2108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400" b="1">
                <a:solidFill>
                  <a:srgbClr val="2A9DBC"/>
                </a:solidFill>
                <a:latin typeface="Microsoft YaHei" panose="020B0503020204020204" pitchFamily="34" charset="-122"/>
              </a:rPr>
              <a:t>Software baseline</a:t>
            </a:r>
            <a:endParaRPr lang="zh-CN" altLang="en-US" sz="14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281C3E3-77A3-3E7C-CAD7-5A72280082CE}"/>
              </a:ext>
            </a:extLst>
          </p:cNvPr>
          <p:cNvSpPr txBox="1"/>
          <p:nvPr/>
        </p:nvSpPr>
        <p:spPr>
          <a:xfrm>
            <a:off x="3759200" y="3695700"/>
            <a:ext cx="2108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Cadence irun(64): 13.10-s010</a:t>
            </a:r>
            <a:endParaRPr lang="zh-CN" altLang="en-US" sz="12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7641C27-9290-730A-2A3B-28E630092A1F}"/>
              </a:ext>
            </a:extLst>
          </p:cNvPr>
          <p:cNvSpPr/>
          <p:nvPr/>
        </p:nvSpPr>
        <p:spPr>
          <a:xfrm>
            <a:off x="6273800" y="3200400"/>
            <a:ext cx="2413000" cy="11684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7FB91B8-EAE2-B412-0299-50C108CB8A19}"/>
              </a:ext>
            </a:extLst>
          </p:cNvPr>
          <p:cNvSpPr/>
          <p:nvPr/>
        </p:nvSpPr>
        <p:spPr>
          <a:xfrm>
            <a:off x="6273800" y="3200400"/>
            <a:ext cx="63500" cy="1168400"/>
          </a:xfrm>
          <a:prstGeom prst="rect">
            <a:avLst/>
          </a:prstGeom>
          <a:solidFill>
            <a:srgbClr val="3E96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6C50FDD-EBED-57D8-A964-D8CFDECCC64D}"/>
              </a:ext>
            </a:extLst>
          </p:cNvPr>
          <p:cNvSpPr txBox="1"/>
          <p:nvPr/>
        </p:nvSpPr>
        <p:spPr>
          <a:xfrm>
            <a:off x="6451600" y="3327400"/>
            <a:ext cx="2108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400" b="1">
                <a:solidFill>
                  <a:srgbClr val="3E9668"/>
                </a:solidFill>
                <a:latin typeface="Microsoft YaHei" panose="020B0503020204020204" pitchFamily="34" charset="-122"/>
              </a:rPr>
              <a:t>Testbench</a:t>
            </a:r>
            <a:endParaRPr lang="zh-CN" altLang="en-US" sz="1400" b="1">
              <a:solidFill>
                <a:srgbClr val="3E966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0ADD9A5-CBCD-A2CB-4995-FD1C5B8E487A}"/>
              </a:ext>
            </a:extLst>
          </p:cNvPr>
          <p:cNvSpPr txBox="1"/>
          <p:nvPr/>
        </p:nvSpPr>
        <p:spPr>
          <a:xfrm>
            <a:off x="6451600" y="3695700"/>
            <a:ext cx="2108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Conservative Verilog legacy bench</a:t>
            </a:r>
            <a:endParaRPr lang="zh-CN" altLang="en-US" sz="12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DE54958-E984-C12F-F56F-7047572DFDDC}"/>
              </a:ext>
            </a:extLst>
          </p:cNvPr>
          <p:cNvSpPr/>
          <p:nvPr/>
        </p:nvSpPr>
        <p:spPr>
          <a:xfrm>
            <a:off x="8966200" y="3200400"/>
            <a:ext cx="2413000" cy="11684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295F2FA-A503-1ED7-705C-C5E53E30E499}"/>
              </a:ext>
            </a:extLst>
          </p:cNvPr>
          <p:cNvSpPr/>
          <p:nvPr/>
        </p:nvSpPr>
        <p:spPr>
          <a:xfrm>
            <a:off x="8966200" y="3200400"/>
            <a:ext cx="63500" cy="11684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A9A12A3-D4F9-F0F4-10AF-2DD3FA090442}"/>
              </a:ext>
            </a:extLst>
          </p:cNvPr>
          <p:cNvSpPr txBox="1"/>
          <p:nvPr/>
        </p:nvSpPr>
        <p:spPr>
          <a:xfrm>
            <a:off x="9144000" y="3327400"/>
            <a:ext cx="2108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400" b="1">
                <a:solidFill>
                  <a:srgbClr val="DC8433"/>
                </a:solidFill>
                <a:latin typeface="Microsoft YaHei" panose="020B0503020204020204" pitchFamily="34" charset="-122"/>
              </a:rPr>
              <a:t>PXP mode</a:t>
            </a:r>
            <a:endParaRPr lang="zh-CN" altLang="en-US" sz="1400" b="1">
              <a:solidFill>
                <a:srgbClr val="DC84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898BCD4-8C28-2C74-7BB7-4147CE4D77AD}"/>
              </a:ext>
            </a:extLst>
          </p:cNvPr>
          <p:cNvSpPr txBox="1"/>
          <p:nvPr/>
        </p:nvSpPr>
        <p:spPr>
          <a:xfrm>
            <a:off x="9144000" y="3695700"/>
            <a:ext cx="2108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IXCOM SA + xeDebug hot swap</a:t>
            </a:r>
            <a:endParaRPr lang="zh-CN" altLang="en-US" sz="12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161CFA7-64C8-D7B3-17D4-37C20EEB24DA}"/>
              </a:ext>
            </a:extLst>
          </p:cNvPr>
          <p:cNvSpPr txBox="1"/>
          <p:nvPr/>
        </p:nvSpPr>
        <p:spPr>
          <a:xfrm>
            <a:off x="1016000" y="4876800"/>
            <a:ext cx="9906000" cy="6360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VS Code Remote SSH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受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PXP glibc/libstdc++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限制，实际采用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terminal workflow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旧工具约束决定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testbench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要避免现代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SystemVerilog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写法。</a:t>
            </a:r>
          </a:p>
        </p:txBody>
      </p:sp>
    </p:spTree>
    <p:extLst>
      <p:ext uri="{BB962C8B-B14F-4D97-AF65-F5344CB8AC3E}">
        <p14:creationId xmlns:p14="http://schemas.microsoft.com/office/powerpoint/2010/main" val="304030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336EB0B-5778-AA1B-ADEC-3A22DC6ACD98}"/>
              </a:ext>
            </a:extLst>
          </p:cNvPr>
          <p:cNvSpPr txBox="1"/>
          <p:nvPr/>
        </p:nvSpPr>
        <p:spPr>
          <a:xfrm>
            <a:off x="660400" y="355600"/>
            <a:ext cx="1092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100" b="1">
                <a:solidFill>
                  <a:srgbClr val="2A9DBC"/>
                </a:solidFill>
                <a:latin typeface="Microsoft YaHei" panose="020B0503020204020204" pitchFamily="34" charset="-122"/>
              </a:rPr>
              <a:t>不是编译通过，而是真硬件运行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CA69D12-4E71-BE73-E90D-BA77928E35C0}"/>
              </a:ext>
            </a:extLst>
          </p:cNvPr>
          <p:cNvSpPr txBox="1"/>
          <p:nvPr/>
        </p:nvSpPr>
        <p:spPr>
          <a:xfrm>
            <a:off x="635000" y="635000"/>
            <a:ext cx="10922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PXP SA </a:t>
            </a:r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真实执行证据链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94D986-FA7D-2D89-A7C5-086D6EFB636B}"/>
              </a:ext>
            </a:extLst>
          </p:cNvPr>
          <p:cNvSpPr/>
          <p:nvPr/>
        </p:nvSpPr>
        <p:spPr>
          <a:xfrm>
            <a:off x="660400" y="1371600"/>
            <a:ext cx="812800" cy="381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E7801F9-2B3B-9F5A-6EEF-A3D854BE0204}"/>
              </a:ext>
            </a:extLst>
          </p:cNvPr>
          <p:cNvSpPr txBox="1"/>
          <p:nvPr/>
        </p:nvSpPr>
        <p:spPr>
          <a:xfrm>
            <a:off x="9321800" y="6502400"/>
            <a:ext cx="2286000" cy="25135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800">
                <a:solidFill>
                  <a:srgbClr val="636F82"/>
                </a:solidFill>
                <a:latin typeface="Microsoft YaHei" panose="020B0503020204020204" pitchFamily="34" charset="-122"/>
              </a:rPr>
              <a:t>PXP technical review | 3</a:t>
            </a:r>
            <a:endParaRPr lang="zh-CN" altLang="en-US" sz="800">
              <a:solidFill>
                <a:srgbClr val="636F8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0B7B2F0-0E05-1E72-04B6-BA719B434409}"/>
              </a:ext>
            </a:extLst>
          </p:cNvPr>
          <p:cNvSpPr/>
          <p:nvPr/>
        </p:nvSpPr>
        <p:spPr>
          <a:xfrm>
            <a:off x="736600" y="1803400"/>
            <a:ext cx="2508250" cy="10922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514BC51-8B99-9090-9CB8-534337E77EC5}"/>
              </a:ext>
            </a:extLst>
          </p:cNvPr>
          <p:cNvSpPr txBox="1"/>
          <p:nvPr/>
        </p:nvSpPr>
        <p:spPr>
          <a:xfrm>
            <a:off x="812800" y="1905000"/>
            <a:ext cx="235585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Reserve domain
test_server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A7417807-1896-A14A-55F5-8179C87E3EA7}"/>
              </a:ext>
            </a:extLst>
          </p:cNvPr>
          <p:cNvSpPr/>
          <p:nvPr/>
        </p:nvSpPr>
        <p:spPr>
          <a:xfrm>
            <a:off x="3270250" y="22733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45A54A-5C2B-A918-3BC8-ECD4FA247246}"/>
              </a:ext>
            </a:extLst>
          </p:cNvPr>
          <p:cNvSpPr/>
          <p:nvPr/>
        </p:nvSpPr>
        <p:spPr>
          <a:xfrm>
            <a:off x="3473450" y="1803400"/>
            <a:ext cx="2508250" cy="10922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245BA0-A2CA-7F6E-28CC-878AC1095EF4}"/>
              </a:ext>
            </a:extLst>
          </p:cNvPr>
          <p:cNvSpPr txBox="1"/>
          <p:nvPr/>
        </p:nvSpPr>
        <p:spPr>
          <a:xfrm>
            <a:off x="3549650" y="1905000"/>
            <a:ext cx="235585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Set key
xeset reserveKey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22EABE12-D871-CC30-EC7A-503C4807C44D}"/>
              </a:ext>
            </a:extLst>
          </p:cNvPr>
          <p:cNvSpPr/>
          <p:nvPr/>
        </p:nvSpPr>
        <p:spPr>
          <a:xfrm>
            <a:off x="6007100" y="22733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E9F9852-0899-36E2-8C8C-F5CD4C2AD803}"/>
              </a:ext>
            </a:extLst>
          </p:cNvPr>
          <p:cNvSpPr/>
          <p:nvPr/>
        </p:nvSpPr>
        <p:spPr>
          <a:xfrm>
            <a:off x="6210300" y="1803400"/>
            <a:ext cx="2508250" cy="10922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A140AE0-EBBC-9F66-F0CC-2E1338AD5AC3}"/>
              </a:ext>
            </a:extLst>
          </p:cNvPr>
          <p:cNvSpPr txBox="1"/>
          <p:nvPr/>
        </p:nvSpPr>
        <p:spPr>
          <a:xfrm>
            <a:off x="6286500" y="1905000"/>
            <a:ext cx="235585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Hot swap
xc on -run -xt0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C2C26C17-29DD-27C9-54FF-5D649AA1C4A7}"/>
              </a:ext>
            </a:extLst>
          </p:cNvPr>
          <p:cNvSpPr/>
          <p:nvPr/>
        </p:nvSpPr>
        <p:spPr>
          <a:xfrm>
            <a:off x="8743950" y="22733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76A552B-EFF4-EE75-5260-51CD758FFC20}"/>
              </a:ext>
            </a:extLst>
          </p:cNvPr>
          <p:cNvSpPr/>
          <p:nvPr/>
        </p:nvSpPr>
        <p:spPr>
          <a:xfrm>
            <a:off x="8947150" y="1803400"/>
            <a:ext cx="2508250" cy="10922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CA4266F-AAC0-D733-B5E7-465C21D0684B}"/>
              </a:ext>
            </a:extLst>
          </p:cNvPr>
          <p:cNvSpPr txBox="1"/>
          <p:nvPr/>
        </p:nvSpPr>
        <p:spPr>
          <a:xfrm>
            <a:off x="9023350" y="1905000"/>
            <a:ext cx="235585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Observe
HW exec stats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99A2E85-6BB7-91B2-9FF3-1318C72CB481}"/>
              </a:ext>
            </a:extLst>
          </p:cNvPr>
          <p:cNvSpPr txBox="1"/>
          <p:nvPr/>
        </p:nvSpPr>
        <p:spPr>
          <a:xfrm>
            <a:off x="1016000" y="3403600"/>
            <a:ext cx="10160000" cy="159017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plain irun -R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或 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un_hw_legacy.sh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不能单独证明 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DUT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已跑在 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PalladiumXP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成功证据：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Starting/Finished swap into the emulator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运行证据：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--- HW execs ... evals ... in ... sec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	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est_server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需要看到 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design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绑定；只有 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RESERVED*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还不够。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3A10697-60A7-0B8A-F5E8-5D2FCEA608AA}"/>
              </a:ext>
            </a:extLst>
          </p:cNvPr>
          <p:cNvSpPr txBox="1"/>
          <p:nvPr/>
        </p:nvSpPr>
        <p:spPr>
          <a:xfrm>
            <a:off x="2082800" y="5461000"/>
            <a:ext cx="8026400" cy="497572"/>
          </a:xfrm>
          <a:prstGeom prst="rect">
            <a:avLst/>
          </a:prstGeom>
          <a:solidFill>
            <a:srgbClr val="142C48"/>
          </a:solidFill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关键命令：</a:t>
            </a:r>
            <a:r>
              <a:rPr lang="en-US" altLang="zh-CN" sz="2400" b="1">
                <a:solidFill>
                  <a:srgbClr val="FFFFFF"/>
                </a:solidFill>
                <a:latin typeface="Microsoft YaHei" panose="020B0503020204020204" pitchFamily="34" charset="-122"/>
              </a:rPr>
              <a:t>xc on -run -xt0</a:t>
            </a:r>
            <a:endParaRPr lang="zh-CN" altLang="en-US" sz="24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480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90DC7BB-A22F-67AF-2C16-9B02CEECD199}"/>
              </a:ext>
            </a:extLst>
          </p:cNvPr>
          <p:cNvSpPr txBox="1"/>
          <p:nvPr/>
        </p:nvSpPr>
        <p:spPr>
          <a:xfrm>
            <a:off x="660400" y="355600"/>
            <a:ext cx="1092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100" b="1">
                <a:solidFill>
                  <a:srgbClr val="2A9DBC"/>
                </a:solidFill>
                <a:latin typeface="Microsoft YaHei" panose="020B0503020204020204" pitchFamily="34" charset="-122"/>
              </a:rPr>
              <a:t>从可编译到可测量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70BDEF-42D3-D37F-1008-CD86CC89FAD5}"/>
              </a:ext>
            </a:extLst>
          </p:cNvPr>
          <p:cNvSpPr txBox="1"/>
          <p:nvPr/>
        </p:nvSpPr>
        <p:spPr>
          <a:xfrm>
            <a:off x="635000" y="635000"/>
            <a:ext cx="10922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功能 </a:t>
            </a:r>
            <a:r>
              <a:rPr lang="en-US" altLang="zh-CN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bring-up </a:t>
            </a:r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路径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B1A548-48BF-B44A-49AF-80AF016096CC}"/>
              </a:ext>
            </a:extLst>
          </p:cNvPr>
          <p:cNvSpPr/>
          <p:nvPr/>
        </p:nvSpPr>
        <p:spPr>
          <a:xfrm>
            <a:off x="660400" y="1371600"/>
            <a:ext cx="812800" cy="381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294302-1474-21EF-A0A0-C15A2926B540}"/>
              </a:ext>
            </a:extLst>
          </p:cNvPr>
          <p:cNvSpPr txBox="1"/>
          <p:nvPr/>
        </p:nvSpPr>
        <p:spPr>
          <a:xfrm>
            <a:off x="9321800" y="6502400"/>
            <a:ext cx="2286000" cy="25135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800">
                <a:solidFill>
                  <a:srgbClr val="636F82"/>
                </a:solidFill>
                <a:latin typeface="Microsoft YaHei" panose="020B0503020204020204" pitchFamily="34" charset="-122"/>
              </a:rPr>
              <a:t>PXP technical review | 4</a:t>
            </a:r>
            <a:endParaRPr lang="zh-CN" altLang="en-US" sz="800">
              <a:solidFill>
                <a:srgbClr val="636F8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BDB99E3-9F4F-9ECC-DE5A-8BF97C342756}"/>
              </a:ext>
            </a:extLst>
          </p:cNvPr>
          <p:cNvSpPr/>
          <p:nvPr/>
        </p:nvSpPr>
        <p:spPr>
          <a:xfrm>
            <a:off x="660400" y="1905000"/>
            <a:ext cx="1991360" cy="10414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D24DC3F-F124-67DF-CA80-B2CB3481D32E}"/>
              </a:ext>
            </a:extLst>
          </p:cNvPr>
          <p:cNvSpPr txBox="1"/>
          <p:nvPr/>
        </p:nvSpPr>
        <p:spPr>
          <a:xfrm>
            <a:off x="736600" y="2006600"/>
            <a:ext cx="183896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Smoke PASS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53BEC05B-CDEE-DB58-3C9A-A8121BBCC1A1}"/>
              </a:ext>
            </a:extLst>
          </p:cNvPr>
          <p:cNvSpPr/>
          <p:nvPr/>
        </p:nvSpPr>
        <p:spPr>
          <a:xfrm>
            <a:off x="2677160" y="23495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40FDEA-F259-5796-4193-8F68238490D9}"/>
              </a:ext>
            </a:extLst>
          </p:cNvPr>
          <p:cNvSpPr/>
          <p:nvPr/>
        </p:nvSpPr>
        <p:spPr>
          <a:xfrm>
            <a:off x="2880360" y="1905000"/>
            <a:ext cx="1991360" cy="10414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7F9F77D-4FAA-7778-6D6F-B31AEE97E2D6}"/>
              </a:ext>
            </a:extLst>
          </p:cNvPr>
          <p:cNvSpPr txBox="1"/>
          <p:nvPr/>
        </p:nvSpPr>
        <p:spPr>
          <a:xfrm>
            <a:off x="2956560" y="2006600"/>
            <a:ext cx="183896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Legacy bench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0C48212E-A16D-0D30-EB90-5707F311A121}"/>
              </a:ext>
            </a:extLst>
          </p:cNvPr>
          <p:cNvSpPr/>
          <p:nvPr/>
        </p:nvSpPr>
        <p:spPr>
          <a:xfrm>
            <a:off x="4897120" y="23495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5EE4A8-AEC5-B77E-1DC8-56BF0DC681DB}"/>
              </a:ext>
            </a:extLst>
          </p:cNvPr>
          <p:cNvSpPr/>
          <p:nvPr/>
        </p:nvSpPr>
        <p:spPr>
          <a:xfrm>
            <a:off x="5100320" y="1905000"/>
            <a:ext cx="1991360" cy="10414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091810-1328-D76F-F166-7AED7EECC9DA}"/>
              </a:ext>
            </a:extLst>
          </p:cNvPr>
          <p:cNvSpPr txBox="1"/>
          <p:nvPr/>
        </p:nvSpPr>
        <p:spPr>
          <a:xfrm>
            <a:off x="5176520" y="2006600"/>
            <a:ext cx="183896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NaN-boxing fix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08E5BA5B-D96B-2249-F4A6-0029E5FE1F32}"/>
              </a:ext>
            </a:extLst>
          </p:cNvPr>
          <p:cNvSpPr/>
          <p:nvPr/>
        </p:nvSpPr>
        <p:spPr>
          <a:xfrm>
            <a:off x="7117080" y="23495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24CF76-2EDE-BF17-17A3-8DCA827D23D2}"/>
              </a:ext>
            </a:extLst>
          </p:cNvPr>
          <p:cNvSpPr/>
          <p:nvPr/>
        </p:nvSpPr>
        <p:spPr>
          <a:xfrm>
            <a:off x="7320280" y="1905000"/>
            <a:ext cx="1991360" cy="10414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C12688-C307-132F-70B3-DC0DF2F6C37A}"/>
              </a:ext>
            </a:extLst>
          </p:cNvPr>
          <p:cNvSpPr txBox="1"/>
          <p:nvPr/>
        </p:nvSpPr>
        <p:spPr>
          <a:xfrm>
            <a:off x="7396480" y="2006600"/>
            <a:ext cx="183896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Directed result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D314B28A-C84B-5B3A-A02C-2D213B4F81D2}"/>
              </a:ext>
            </a:extLst>
          </p:cNvPr>
          <p:cNvSpPr/>
          <p:nvPr/>
        </p:nvSpPr>
        <p:spPr>
          <a:xfrm>
            <a:off x="9337040" y="23495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38A5B47-E2BD-EB80-8F10-08390EDA51B4}"/>
              </a:ext>
            </a:extLst>
          </p:cNvPr>
          <p:cNvSpPr/>
          <p:nvPr/>
        </p:nvSpPr>
        <p:spPr>
          <a:xfrm>
            <a:off x="9540240" y="1905000"/>
            <a:ext cx="1991360" cy="10414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5F7CC8C-7BFB-6534-4CC6-EC1DCEAF8CD0}"/>
              </a:ext>
            </a:extLst>
          </p:cNvPr>
          <p:cNvSpPr txBox="1"/>
          <p:nvPr/>
        </p:nvSpPr>
        <p:spPr>
          <a:xfrm>
            <a:off x="9616440" y="2006600"/>
            <a:ext cx="183896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Stress matrix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BC99AB-6E9B-EB12-1943-E3E0D05E8FA9}"/>
              </a:ext>
            </a:extLst>
          </p:cNvPr>
          <p:cNvSpPr/>
          <p:nvPr/>
        </p:nvSpPr>
        <p:spPr>
          <a:xfrm>
            <a:off x="914400" y="3454400"/>
            <a:ext cx="3111500" cy="11938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B23CCF6-6004-A9A2-23A8-E06FA4885AA3}"/>
              </a:ext>
            </a:extLst>
          </p:cNvPr>
          <p:cNvSpPr/>
          <p:nvPr/>
        </p:nvSpPr>
        <p:spPr>
          <a:xfrm>
            <a:off x="914400" y="3454400"/>
            <a:ext cx="63500" cy="1193800"/>
          </a:xfrm>
          <a:prstGeom prst="rect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296BD11-77CF-B469-6F8A-2F2E6B5F36CF}"/>
              </a:ext>
            </a:extLst>
          </p:cNvPr>
          <p:cNvSpPr txBox="1"/>
          <p:nvPr/>
        </p:nvSpPr>
        <p:spPr>
          <a:xfrm>
            <a:off x="1092200" y="3581400"/>
            <a:ext cx="28067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400" b="1">
                <a:solidFill>
                  <a:srgbClr val="2A6FB0"/>
                </a:solidFill>
                <a:latin typeface="Microsoft YaHei" panose="020B0503020204020204" pitchFamily="34" charset="-122"/>
              </a:rPr>
              <a:t>Smoke</a:t>
            </a:r>
            <a:endParaRPr lang="zh-CN" altLang="en-US" sz="1400" b="1">
              <a:solidFill>
                <a:srgbClr val="2A6FB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ED5B6FC-0F2B-E401-1EAD-DD2E664222DF}"/>
              </a:ext>
            </a:extLst>
          </p:cNvPr>
          <p:cNvSpPr txBox="1"/>
          <p:nvPr/>
        </p:nvSpPr>
        <p:spPr>
          <a:xfrm>
            <a:off x="1092200" y="3949700"/>
            <a:ext cx="28067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filelist / springcore_pkg.v / DUT ports / run flow</a:t>
            </a:r>
            <a:endParaRPr lang="zh-CN" altLang="en-US" sz="12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8D54F25-3DA5-822C-CD1B-9DCB8B645505}"/>
              </a:ext>
            </a:extLst>
          </p:cNvPr>
          <p:cNvSpPr/>
          <p:nvPr/>
        </p:nvSpPr>
        <p:spPr>
          <a:xfrm>
            <a:off x="4546600" y="3454400"/>
            <a:ext cx="3111500" cy="11938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C3BA23E-7BD6-7F39-BCE0-D5958254D0BD}"/>
              </a:ext>
            </a:extLst>
          </p:cNvPr>
          <p:cNvSpPr/>
          <p:nvPr/>
        </p:nvSpPr>
        <p:spPr>
          <a:xfrm>
            <a:off x="4546600" y="3454400"/>
            <a:ext cx="63500" cy="1193800"/>
          </a:xfrm>
          <a:prstGeom prst="rect">
            <a:avLst/>
          </a:prstGeom>
          <a:solidFill>
            <a:srgbClr val="2A9D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C5C2877-89FD-27B7-F2AC-B1EE7348A3A1}"/>
              </a:ext>
            </a:extLst>
          </p:cNvPr>
          <p:cNvSpPr txBox="1"/>
          <p:nvPr/>
        </p:nvSpPr>
        <p:spPr>
          <a:xfrm>
            <a:off x="4724400" y="3581400"/>
            <a:ext cx="28067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400" b="1">
                <a:solidFill>
                  <a:srgbClr val="2A9DBC"/>
                </a:solidFill>
                <a:latin typeface="Microsoft YaHei" panose="020B0503020204020204" pitchFamily="34" charset="-122"/>
              </a:rPr>
              <a:t>Directed</a:t>
            </a:r>
            <a:endParaRPr lang="zh-CN" altLang="en-US" sz="14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4FAA99-ED66-A2B1-8397-C59224EF514D}"/>
              </a:ext>
            </a:extLst>
          </p:cNvPr>
          <p:cNvSpPr txBox="1"/>
          <p:nvPr/>
        </p:nvSpPr>
        <p:spPr>
          <a:xfrm>
            <a:off x="4724400" y="3949700"/>
            <a:ext cx="28067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FP32 operands require NaN-boxing:
upper32 = 0xffffffff</a:t>
            </a:r>
            <a:endParaRPr lang="zh-CN" altLang="en-US" sz="12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B8A39A9-EF79-33FA-D1A0-3E05EFEF2255}"/>
              </a:ext>
            </a:extLst>
          </p:cNvPr>
          <p:cNvSpPr/>
          <p:nvPr/>
        </p:nvSpPr>
        <p:spPr>
          <a:xfrm>
            <a:off x="8178800" y="3454400"/>
            <a:ext cx="3111500" cy="11938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CB39032-7795-6A08-B92E-93237A499670}"/>
              </a:ext>
            </a:extLst>
          </p:cNvPr>
          <p:cNvSpPr/>
          <p:nvPr/>
        </p:nvSpPr>
        <p:spPr>
          <a:xfrm>
            <a:off x="8178800" y="3454400"/>
            <a:ext cx="63500" cy="1193800"/>
          </a:xfrm>
          <a:prstGeom prst="rect">
            <a:avLst/>
          </a:prstGeom>
          <a:solidFill>
            <a:srgbClr val="3E96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9200F82-7754-92B2-BA24-E9CF58EDA688}"/>
              </a:ext>
            </a:extLst>
          </p:cNvPr>
          <p:cNvSpPr txBox="1"/>
          <p:nvPr/>
        </p:nvSpPr>
        <p:spPr>
          <a:xfrm>
            <a:off x="8356600" y="3581400"/>
            <a:ext cx="28067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400" b="1">
                <a:solidFill>
                  <a:srgbClr val="3E9668"/>
                </a:solidFill>
                <a:latin typeface="Microsoft YaHei" panose="020B0503020204020204" pitchFamily="34" charset="-122"/>
              </a:rPr>
              <a:t>Stress</a:t>
            </a:r>
            <a:endParaRPr lang="zh-CN" altLang="en-US" sz="1400" b="1">
              <a:solidFill>
                <a:srgbClr val="3E966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A3B6554-297A-5CB0-5B9C-5B0BEF79E4A8}"/>
              </a:ext>
            </a:extLst>
          </p:cNvPr>
          <p:cNvSpPr txBox="1"/>
          <p:nvPr/>
        </p:nvSpPr>
        <p:spPr>
          <a:xfrm>
            <a:off x="8356600" y="3949700"/>
            <a:ext cx="28067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Suppress per-writeback logs to avoid I/O dominated timing</a:t>
            </a:r>
            <a:endParaRPr lang="zh-CN" altLang="en-US" sz="1200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484A1BA-101E-0545-C8D2-3DFFC9B90F33}"/>
              </a:ext>
            </a:extLst>
          </p:cNvPr>
          <p:cNvSpPr txBox="1"/>
          <p:nvPr/>
        </p:nvSpPr>
        <p:spPr>
          <a:xfrm>
            <a:off x="1193800" y="5130800"/>
            <a:ext cx="9652000" cy="92845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主力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bench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：	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b_sc_idu_to_fxu_legacy.v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版本标记：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2026-06-05-legacy-v3-fast-stress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。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10M timeout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已通过 </a:t>
            </a:r>
            <a:r>
              <a:rPr lang="en-US" altLang="zh-CN" sz="1400">
                <a:solidFill>
                  <a:srgbClr val="1F2937"/>
                </a:solidFill>
                <a:latin typeface="Microsoft YaHei" panose="020B0503020204020204" pitchFamily="34" charset="-122"/>
              </a:rPr>
              <a:t>TIMEOUT_CYCLES = 20000000 </a:t>
            </a:r>
            <a:r>
              <a:rPr lang="zh-CN" altLang="en-US" sz="1400">
                <a:solidFill>
                  <a:srgbClr val="1F2937"/>
                </a:solidFill>
                <a:latin typeface="Microsoft YaHei" panose="020B0503020204020204" pitchFamily="34" charset="-122"/>
              </a:rPr>
              <a:t>处理。</a:t>
            </a:r>
          </a:p>
        </p:txBody>
      </p:sp>
    </p:spTree>
    <p:extLst>
      <p:ext uri="{BB962C8B-B14F-4D97-AF65-F5344CB8AC3E}">
        <p14:creationId xmlns:p14="http://schemas.microsoft.com/office/powerpoint/2010/main" val="1875038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57CCC-DC0E-7663-1019-BC8EE3E83326}"/>
              </a:ext>
            </a:extLst>
          </p:cNvPr>
          <p:cNvSpPr txBox="1"/>
          <p:nvPr/>
        </p:nvSpPr>
        <p:spPr>
          <a:xfrm>
            <a:off x="660400" y="355600"/>
            <a:ext cx="1092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100" b="1">
                <a:solidFill>
                  <a:srgbClr val="2A9DBC"/>
                </a:solidFill>
                <a:latin typeface="Microsoft YaHei" panose="020B0503020204020204" pitchFamily="34" charset="-122"/>
              </a:rPr>
              <a:t>1M / 5M / 10M deterministic stress</a:t>
            </a:r>
            <a:endParaRPr lang="zh-CN" altLang="en-US" sz="11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1CE8FC-66F5-6615-AF57-0B3EB883732E}"/>
              </a:ext>
            </a:extLst>
          </p:cNvPr>
          <p:cNvSpPr txBox="1"/>
          <p:nvPr/>
        </p:nvSpPr>
        <p:spPr>
          <a:xfrm>
            <a:off x="635000" y="635000"/>
            <a:ext cx="10922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性能结果总览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B6CA39-0345-6711-8AB1-B67C6C74AF0E}"/>
              </a:ext>
            </a:extLst>
          </p:cNvPr>
          <p:cNvSpPr/>
          <p:nvPr/>
        </p:nvSpPr>
        <p:spPr>
          <a:xfrm>
            <a:off x="660400" y="1371600"/>
            <a:ext cx="812800" cy="381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4B3397-30DC-E922-7641-738E3DFFCFD1}"/>
              </a:ext>
            </a:extLst>
          </p:cNvPr>
          <p:cNvSpPr txBox="1"/>
          <p:nvPr/>
        </p:nvSpPr>
        <p:spPr>
          <a:xfrm>
            <a:off x="9321800" y="6502400"/>
            <a:ext cx="2286000" cy="25135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800">
                <a:solidFill>
                  <a:srgbClr val="636F82"/>
                </a:solidFill>
                <a:latin typeface="Microsoft YaHei" panose="020B0503020204020204" pitchFamily="34" charset="-122"/>
              </a:rPr>
              <a:t>PXP technical review | 5</a:t>
            </a:r>
            <a:endParaRPr lang="zh-CN" altLang="en-US" sz="800">
              <a:solidFill>
                <a:srgbClr val="636F82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4162949-A9FD-D7BE-7730-21DBF56F3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961045"/>
              </p:ext>
            </p:extLst>
          </p:nvPr>
        </p:nvGraphicFramePr>
        <p:xfrm>
          <a:off x="635000" y="1727200"/>
          <a:ext cx="109220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286">
                  <a:extLst>
                    <a:ext uri="{9D8B030D-6E8A-4147-A177-3AD203B41FA5}">
                      <a16:colId xmlns:a16="http://schemas.microsoft.com/office/drawing/2014/main" val="856446097"/>
                    </a:ext>
                  </a:extLst>
                </a:gridCol>
                <a:gridCol w="1560286">
                  <a:extLst>
                    <a:ext uri="{9D8B030D-6E8A-4147-A177-3AD203B41FA5}">
                      <a16:colId xmlns:a16="http://schemas.microsoft.com/office/drawing/2014/main" val="978301738"/>
                    </a:ext>
                  </a:extLst>
                </a:gridCol>
                <a:gridCol w="1560286">
                  <a:extLst>
                    <a:ext uri="{9D8B030D-6E8A-4147-A177-3AD203B41FA5}">
                      <a16:colId xmlns:a16="http://schemas.microsoft.com/office/drawing/2014/main" val="2482804622"/>
                    </a:ext>
                  </a:extLst>
                </a:gridCol>
                <a:gridCol w="1560286">
                  <a:extLst>
                    <a:ext uri="{9D8B030D-6E8A-4147-A177-3AD203B41FA5}">
                      <a16:colId xmlns:a16="http://schemas.microsoft.com/office/drawing/2014/main" val="2637676546"/>
                    </a:ext>
                  </a:extLst>
                </a:gridCol>
                <a:gridCol w="1560286">
                  <a:extLst>
                    <a:ext uri="{9D8B030D-6E8A-4147-A177-3AD203B41FA5}">
                      <a16:colId xmlns:a16="http://schemas.microsoft.com/office/drawing/2014/main" val="794689921"/>
                    </a:ext>
                  </a:extLst>
                </a:gridCol>
                <a:gridCol w="1560286">
                  <a:extLst>
                    <a:ext uri="{9D8B030D-6E8A-4147-A177-3AD203B41FA5}">
                      <a16:colId xmlns:a16="http://schemas.microsoft.com/office/drawing/2014/main" val="200446112"/>
                    </a:ext>
                  </a:extLst>
                </a:gridCol>
                <a:gridCol w="1560286">
                  <a:extLst>
                    <a:ext uri="{9D8B030D-6E8A-4147-A177-3AD203B41FA5}">
                      <a16:colId xmlns:a16="http://schemas.microsoft.com/office/drawing/2014/main" val="2719097566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label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num_ops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SW real (s)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PXP real (s)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HW exec (s)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E2E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status</a:t>
                      </a:r>
                      <a:endParaRPr lang="zh-CN" altLang="en-US" sz="1000" b="1">
                        <a:solidFill>
                          <a:srgbClr val="FFFFFF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91158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1M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1,000,000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281.85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133.67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38.17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2.109x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PASS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54483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5M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5,000,000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922.95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282.66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187.13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3.265x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PASS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21028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10M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10,000,000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1727.26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472.05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376.62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3.659x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PASS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19792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621AF91-189A-17D1-23A3-B7570F392C79}"/>
              </a:ext>
            </a:extLst>
          </p:cNvPr>
          <p:cNvSpPr txBox="1"/>
          <p:nvPr/>
        </p:nvSpPr>
        <p:spPr>
          <a:xfrm>
            <a:off x="812800" y="3708400"/>
            <a:ext cx="4572000" cy="359073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500" b="1">
                <a:solidFill>
                  <a:srgbClr val="142C48"/>
                </a:solidFill>
                <a:latin typeface="Microsoft YaHei" panose="020B0503020204020204" pitchFamily="34" charset="-122"/>
              </a:rPr>
              <a:t>端到端加速比：</a:t>
            </a:r>
            <a:r>
              <a:rPr lang="en-US" altLang="zh-CN" sz="1500" b="1">
                <a:solidFill>
                  <a:srgbClr val="142C48"/>
                </a:solidFill>
                <a:latin typeface="Microsoft YaHei" panose="020B0503020204020204" pitchFamily="34" charset="-122"/>
              </a:rPr>
              <a:t>SW real / PXP real</a:t>
            </a:r>
            <a:endParaRPr lang="zh-CN" altLang="en-US" sz="15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402F00-EB1B-5326-4AD6-5F8C69E3A93F}"/>
              </a:ext>
            </a:extLst>
          </p:cNvPr>
          <p:cNvSpPr txBox="1"/>
          <p:nvPr/>
        </p:nvSpPr>
        <p:spPr>
          <a:xfrm>
            <a:off x="914400" y="4279900"/>
            <a:ext cx="7366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1M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F5D08C-1046-41F2-4B90-D0C208AF59BC}"/>
              </a:ext>
            </a:extLst>
          </p:cNvPr>
          <p:cNvSpPr/>
          <p:nvPr/>
        </p:nvSpPr>
        <p:spPr>
          <a:xfrm>
            <a:off x="1727200" y="4330700"/>
            <a:ext cx="7747000" cy="254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160964-6A08-753C-B682-B4756FA862FC}"/>
              </a:ext>
            </a:extLst>
          </p:cNvPr>
          <p:cNvSpPr/>
          <p:nvPr/>
        </p:nvSpPr>
        <p:spPr>
          <a:xfrm>
            <a:off x="1727200" y="4330700"/>
            <a:ext cx="4089400" cy="254000"/>
          </a:xfrm>
          <a:prstGeom prst="rect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CF69B71-33D1-84D2-BDF9-D7ED4013248C}"/>
              </a:ext>
            </a:extLst>
          </p:cNvPr>
          <p:cNvSpPr txBox="1"/>
          <p:nvPr/>
        </p:nvSpPr>
        <p:spPr>
          <a:xfrm>
            <a:off x="9575800" y="4267200"/>
            <a:ext cx="889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F2937"/>
                </a:solidFill>
                <a:latin typeface="Microsoft YaHei" panose="020B0503020204020204" pitchFamily="34" charset="-122"/>
              </a:rPr>
              <a:t>2.11x</a:t>
            </a:r>
            <a:endParaRPr lang="zh-CN" altLang="en-US" sz="12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DAF4806-A7A2-A6ED-8EDB-8FB3D5A1C5A3}"/>
              </a:ext>
            </a:extLst>
          </p:cNvPr>
          <p:cNvSpPr txBox="1"/>
          <p:nvPr/>
        </p:nvSpPr>
        <p:spPr>
          <a:xfrm>
            <a:off x="914400" y="4754033"/>
            <a:ext cx="7366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5M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5C540DC-5A58-017C-344C-BE959753A8CD}"/>
              </a:ext>
            </a:extLst>
          </p:cNvPr>
          <p:cNvSpPr/>
          <p:nvPr/>
        </p:nvSpPr>
        <p:spPr>
          <a:xfrm>
            <a:off x="1727200" y="4804833"/>
            <a:ext cx="7747000" cy="254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884564-0091-B069-AE48-791E9AB6325B}"/>
              </a:ext>
            </a:extLst>
          </p:cNvPr>
          <p:cNvSpPr/>
          <p:nvPr/>
        </p:nvSpPr>
        <p:spPr>
          <a:xfrm>
            <a:off x="1727200" y="4804833"/>
            <a:ext cx="6324600" cy="254000"/>
          </a:xfrm>
          <a:prstGeom prst="rect">
            <a:avLst/>
          </a:prstGeom>
          <a:solidFill>
            <a:srgbClr val="2A9D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5E3438-DCA2-A7D1-056C-4ED9BC851538}"/>
              </a:ext>
            </a:extLst>
          </p:cNvPr>
          <p:cNvSpPr txBox="1"/>
          <p:nvPr/>
        </p:nvSpPr>
        <p:spPr>
          <a:xfrm>
            <a:off x="9575800" y="4741333"/>
            <a:ext cx="889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F2937"/>
                </a:solidFill>
                <a:latin typeface="Microsoft YaHei" panose="020B0503020204020204" pitchFamily="34" charset="-122"/>
              </a:rPr>
              <a:t>3.27x</a:t>
            </a:r>
            <a:endParaRPr lang="zh-CN" altLang="en-US" sz="12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DCA83F-D21F-61D0-3DD8-42BEA9D77B03}"/>
              </a:ext>
            </a:extLst>
          </p:cNvPr>
          <p:cNvSpPr txBox="1"/>
          <p:nvPr/>
        </p:nvSpPr>
        <p:spPr>
          <a:xfrm>
            <a:off x="914400" y="5228167"/>
            <a:ext cx="7366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10M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CF4DB6-F836-9C83-3048-54B068DA83A9}"/>
              </a:ext>
            </a:extLst>
          </p:cNvPr>
          <p:cNvSpPr/>
          <p:nvPr/>
        </p:nvSpPr>
        <p:spPr>
          <a:xfrm>
            <a:off x="1727200" y="5278967"/>
            <a:ext cx="7747000" cy="254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F6F005-9CDA-72B5-C041-901D91F98AB1}"/>
              </a:ext>
            </a:extLst>
          </p:cNvPr>
          <p:cNvSpPr/>
          <p:nvPr/>
        </p:nvSpPr>
        <p:spPr>
          <a:xfrm>
            <a:off x="1727200" y="5278967"/>
            <a:ext cx="7086600" cy="254000"/>
          </a:xfrm>
          <a:prstGeom prst="rect">
            <a:avLst/>
          </a:prstGeom>
          <a:solidFill>
            <a:srgbClr val="3E96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48031FE-08A5-1DC5-574B-B87036661C39}"/>
              </a:ext>
            </a:extLst>
          </p:cNvPr>
          <p:cNvSpPr txBox="1"/>
          <p:nvPr/>
        </p:nvSpPr>
        <p:spPr>
          <a:xfrm>
            <a:off x="9575800" y="5215467"/>
            <a:ext cx="889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F2937"/>
                </a:solidFill>
                <a:latin typeface="Microsoft YaHei" panose="020B0503020204020204" pitchFamily="34" charset="-122"/>
              </a:rPr>
              <a:t>3.66x</a:t>
            </a:r>
            <a:endParaRPr lang="zh-CN" altLang="en-US" sz="12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465CDFC-3465-BBFA-A775-6AAA2C915CEA}"/>
              </a:ext>
            </a:extLst>
          </p:cNvPr>
          <p:cNvSpPr txBox="1"/>
          <p:nvPr/>
        </p:nvSpPr>
        <p:spPr>
          <a:xfrm>
            <a:off x="1193800" y="5994400"/>
            <a:ext cx="9906000" cy="328295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300">
                <a:solidFill>
                  <a:srgbClr val="636F82"/>
                </a:solidFill>
                <a:latin typeface="Microsoft YaHei" panose="020B0503020204020204" pitchFamily="34" charset="-122"/>
              </a:rPr>
              <a:t>主指标使用端到端 </a:t>
            </a:r>
            <a:r>
              <a:rPr lang="en-US" altLang="zh-CN" sz="1300">
                <a:solidFill>
                  <a:srgbClr val="636F82"/>
                </a:solidFill>
                <a:latin typeface="Microsoft YaHei" panose="020B0503020204020204" pitchFamily="34" charset="-122"/>
              </a:rPr>
              <a:t>runtime</a:t>
            </a:r>
            <a:r>
              <a:rPr lang="zh-CN" altLang="en-US" sz="1300">
                <a:solidFill>
                  <a:srgbClr val="636F82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300">
                <a:solidFill>
                  <a:srgbClr val="636F82"/>
                </a:solidFill>
                <a:latin typeface="Microsoft YaHei" panose="020B0503020204020204" pitchFamily="34" charset="-122"/>
              </a:rPr>
              <a:t>HW exec </a:t>
            </a:r>
            <a:r>
              <a:rPr lang="zh-CN" altLang="en-US" sz="1300">
                <a:solidFill>
                  <a:srgbClr val="636F82"/>
                </a:solidFill>
                <a:latin typeface="Microsoft YaHei" panose="020B0503020204020204" pitchFamily="34" charset="-122"/>
              </a:rPr>
              <a:t>只展示硬件执行潜力。</a:t>
            </a:r>
          </a:p>
        </p:txBody>
      </p:sp>
    </p:spTree>
    <p:extLst>
      <p:ext uri="{BB962C8B-B14F-4D97-AF65-F5344CB8AC3E}">
        <p14:creationId xmlns:p14="http://schemas.microsoft.com/office/powerpoint/2010/main" val="335912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1B6BDEF-3A92-B730-A774-96598FFFAB96}"/>
              </a:ext>
            </a:extLst>
          </p:cNvPr>
          <p:cNvSpPr txBox="1"/>
          <p:nvPr/>
        </p:nvSpPr>
        <p:spPr>
          <a:xfrm>
            <a:off x="660400" y="355600"/>
            <a:ext cx="1092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100" b="1">
                <a:solidFill>
                  <a:srgbClr val="2A9DBC"/>
                </a:solidFill>
                <a:latin typeface="Microsoft YaHei" panose="020B0503020204020204" pitchFamily="34" charset="-122"/>
              </a:rPr>
              <a:t>why larger workloads look better</a:t>
            </a:r>
            <a:endParaRPr lang="zh-CN" altLang="en-US" sz="11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E0919BF-9308-C4EE-CC50-2801660592D7}"/>
              </a:ext>
            </a:extLst>
          </p:cNvPr>
          <p:cNvSpPr txBox="1"/>
          <p:nvPr/>
        </p:nvSpPr>
        <p:spPr>
          <a:xfrm>
            <a:off x="635000" y="635000"/>
            <a:ext cx="10922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数学分析：固定开销摊薄模型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1D1CA8-645B-1FE2-25F5-9CE4B9AAB38A}"/>
              </a:ext>
            </a:extLst>
          </p:cNvPr>
          <p:cNvSpPr/>
          <p:nvPr/>
        </p:nvSpPr>
        <p:spPr>
          <a:xfrm>
            <a:off x="660400" y="1371600"/>
            <a:ext cx="812800" cy="381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B2D5BC9-B851-3634-73BB-972ABF61F5D3}"/>
              </a:ext>
            </a:extLst>
          </p:cNvPr>
          <p:cNvSpPr txBox="1"/>
          <p:nvPr/>
        </p:nvSpPr>
        <p:spPr>
          <a:xfrm>
            <a:off x="9321800" y="6502400"/>
            <a:ext cx="2286000" cy="25135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800">
                <a:solidFill>
                  <a:srgbClr val="636F82"/>
                </a:solidFill>
                <a:latin typeface="Microsoft YaHei" panose="020B0503020204020204" pitchFamily="34" charset="-122"/>
              </a:rPr>
              <a:t>PXP technical review | 6</a:t>
            </a:r>
            <a:endParaRPr lang="zh-CN" altLang="en-US" sz="800">
              <a:solidFill>
                <a:srgbClr val="636F8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04C9E1-9B9E-E995-B454-AF05B63A6037}"/>
              </a:ext>
            </a:extLst>
          </p:cNvPr>
          <p:cNvSpPr txBox="1"/>
          <p:nvPr/>
        </p:nvSpPr>
        <p:spPr>
          <a:xfrm>
            <a:off x="1422400" y="1828800"/>
            <a:ext cx="9398000" cy="528350"/>
          </a:xfrm>
          <a:prstGeom prst="rect">
            <a:avLst/>
          </a:prstGeom>
          <a:solidFill>
            <a:srgbClr val="142C48"/>
          </a:solidFill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fr-FR" altLang="zh-CN" sz="2600" b="1">
                <a:solidFill>
                  <a:srgbClr val="FFFFFF"/>
                </a:solidFill>
                <a:latin typeface="Microsoft YaHei" panose="020B0503020204020204" pitchFamily="34" charset="-122"/>
              </a:rPr>
              <a:t>T_pxp = T_fixed + T_hw_exec + T_sync</a:t>
            </a:r>
            <a:endParaRPr lang="zh-CN" altLang="en-US" sz="26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87757C3-3D17-A370-1EB5-4C23A2875B53}"/>
              </a:ext>
            </a:extLst>
          </p:cNvPr>
          <p:cNvSpPr txBox="1"/>
          <p:nvPr/>
        </p:nvSpPr>
        <p:spPr>
          <a:xfrm>
            <a:off x="3022600" y="2692400"/>
            <a:ext cx="6096000" cy="4514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2100" b="1">
                <a:solidFill>
                  <a:srgbClr val="142C48"/>
                </a:solidFill>
                <a:latin typeface="Microsoft YaHei" panose="020B0503020204020204" pitchFamily="34" charset="-122"/>
              </a:rPr>
              <a:t>speedup = T_sw / T_pxp</a:t>
            </a:r>
            <a:endParaRPr lang="zh-CN" altLang="en-US" sz="21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FD2A2A1-F789-B636-A402-1C8497C067D5}"/>
              </a:ext>
            </a:extLst>
          </p:cNvPr>
          <p:cNvSpPr txBox="1"/>
          <p:nvPr/>
        </p:nvSpPr>
        <p:spPr>
          <a:xfrm>
            <a:off x="1143000" y="3759200"/>
            <a:ext cx="9906000" cy="97462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workload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变大时，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T_fixed / N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下降，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reserve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xeDebug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swap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等固定成本被摊薄。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HW exec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稳定约 </a:t>
            </a: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26K-27K cycles/s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，说明硬件执行段相对稳定。</a:t>
            </a:r>
          </a:p>
          <a:p>
            <a:pPr marL="342900" indent="-342900">
              <a:spcAft>
                <a:spcPts val="600"/>
              </a:spcAft>
              <a:buFont typeface="+mj-lt"/>
              <a:buChar char="•"/>
            </a:pPr>
            <a:r>
              <a:rPr lang="en-US" altLang="zh-CN" sz="1500">
                <a:solidFill>
                  <a:srgbClr val="1F2937"/>
                </a:solidFill>
                <a:latin typeface="Microsoft YaHei" panose="020B0503020204020204" pitchFamily="34" charset="-122"/>
              </a:rPr>
              <a:t>1M -&gt; 10M </a:t>
            </a:r>
            <a:r>
              <a:rPr lang="zh-CN" altLang="en-US" sz="1500">
                <a:solidFill>
                  <a:srgbClr val="1F2937"/>
                </a:solidFill>
                <a:latin typeface="Microsoft YaHei" panose="020B0503020204020204" pitchFamily="34" charset="-122"/>
              </a:rPr>
              <a:t>的加速比提升，主要来自固定开销占比下降和同步占比变化。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76ABF5-5644-B36D-3F52-56AA287556C3}"/>
              </a:ext>
            </a:extLst>
          </p:cNvPr>
          <p:cNvSpPr txBox="1"/>
          <p:nvPr/>
        </p:nvSpPr>
        <p:spPr>
          <a:xfrm>
            <a:off x="2032000" y="5499100"/>
            <a:ext cx="7366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1M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E9080C-4896-6E2C-0949-4FA93F508F51}"/>
              </a:ext>
            </a:extLst>
          </p:cNvPr>
          <p:cNvSpPr/>
          <p:nvPr/>
        </p:nvSpPr>
        <p:spPr>
          <a:xfrm>
            <a:off x="2844800" y="5549900"/>
            <a:ext cx="5969000" cy="254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3C2D4D-EF54-F690-B928-0E502340FCC4}"/>
              </a:ext>
            </a:extLst>
          </p:cNvPr>
          <p:cNvSpPr/>
          <p:nvPr/>
        </p:nvSpPr>
        <p:spPr>
          <a:xfrm>
            <a:off x="2844800" y="5549900"/>
            <a:ext cx="3149600" cy="254000"/>
          </a:xfrm>
          <a:prstGeom prst="rect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5D70CD-316E-BB1C-2865-66EAE95D0371}"/>
              </a:ext>
            </a:extLst>
          </p:cNvPr>
          <p:cNvSpPr txBox="1"/>
          <p:nvPr/>
        </p:nvSpPr>
        <p:spPr>
          <a:xfrm>
            <a:off x="8915400" y="5486400"/>
            <a:ext cx="889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F2937"/>
                </a:solidFill>
                <a:latin typeface="Microsoft YaHei" panose="020B0503020204020204" pitchFamily="34" charset="-122"/>
              </a:rPr>
              <a:t>2.11x</a:t>
            </a:r>
            <a:endParaRPr lang="zh-CN" altLang="en-US" sz="12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E3DCB8-ED58-3F54-447A-8CD422959041}"/>
              </a:ext>
            </a:extLst>
          </p:cNvPr>
          <p:cNvSpPr txBox="1"/>
          <p:nvPr/>
        </p:nvSpPr>
        <p:spPr>
          <a:xfrm>
            <a:off x="2032000" y="5795433"/>
            <a:ext cx="7366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5M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6FFC93-F1FD-5B29-126D-203ABF6CBF9D}"/>
              </a:ext>
            </a:extLst>
          </p:cNvPr>
          <p:cNvSpPr/>
          <p:nvPr/>
        </p:nvSpPr>
        <p:spPr>
          <a:xfrm>
            <a:off x="2844800" y="5846233"/>
            <a:ext cx="5969000" cy="254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B05EA8-E92E-7FC4-45BA-6BAFEB33EC9F}"/>
              </a:ext>
            </a:extLst>
          </p:cNvPr>
          <p:cNvSpPr/>
          <p:nvPr/>
        </p:nvSpPr>
        <p:spPr>
          <a:xfrm>
            <a:off x="2844800" y="5846233"/>
            <a:ext cx="4876800" cy="254000"/>
          </a:xfrm>
          <a:prstGeom prst="rect">
            <a:avLst/>
          </a:prstGeom>
          <a:solidFill>
            <a:srgbClr val="2A9D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F3EF9E6-14D4-2131-A974-66CDC4D2E951}"/>
              </a:ext>
            </a:extLst>
          </p:cNvPr>
          <p:cNvSpPr txBox="1"/>
          <p:nvPr/>
        </p:nvSpPr>
        <p:spPr>
          <a:xfrm>
            <a:off x="8915400" y="5782733"/>
            <a:ext cx="889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F2937"/>
                </a:solidFill>
                <a:latin typeface="Microsoft YaHei" panose="020B0503020204020204" pitchFamily="34" charset="-122"/>
              </a:rPr>
              <a:t>3.27x</a:t>
            </a:r>
            <a:endParaRPr lang="zh-CN" altLang="en-US" sz="12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3574A20-0DD7-0A9D-9020-2B518C4865BB}"/>
              </a:ext>
            </a:extLst>
          </p:cNvPr>
          <p:cNvSpPr txBox="1"/>
          <p:nvPr/>
        </p:nvSpPr>
        <p:spPr>
          <a:xfrm>
            <a:off x="2032000" y="6091767"/>
            <a:ext cx="7366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10M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7FB2EA-E977-E8E7-D467-D53B1A984F61}"/>
              </a:ext>
            </a:extLst>
          </p:cNvPr>
          <p:cNvSpPr/>
          <p:nvPr/>
        </p:nvSpPr>
        <p:spPr>
          <a:xfrm>
            <a:off x="2844800" y="6142567"/>
            <a:ext cx="5969000" cy="254000"/>
          </a:xfrm>
          <a:prstGeom prst="rect">
            <a:avLst/>
          </a:prstGeom>
          <a:solidFill>
            <a:srgbClr val="F5F7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CC1656-9CC4-10D8-236D-BFB39B9DB347}"/>
              </a:ext>
            </a:extLst>
          </p:cNvPr>
          <p:cNvSpPr/>
          <p:nvPr/>
        </p:nvSpPr>
        <p:spPr>
          <a:xfrm>
            <a:off x="2844800" y="6142567"/>
            <a:ext cx="5461000" cy="254000"/>
          </a:xfrm>
          <a:prstGeom prst="rect">
            <a:avLst/>
          </a:prstGeom>
          <a:solidFill>
            <a:srgbClr val="3E96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43BA000-DE23-1E73-D4D1-31A94E6C36C8}"/>
              </a:ext>
            </a:extLst>
          </p:cNvPr>
          <p:cNvSpPr txBox="1"/>
          <p:nvPr/>
        </p:nvSpPr>
        <p:spPr>
          <a:xfrm>
            <a:off x="8915400" y="6079067"/>
            <a:ext cx="8890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F2937"/>
                </a:solidFill>
                <a:latin typeface="Microsoft YaHei" panose="020B0503020204020204" pitchFamily="34" charset="-122"/>
              </a:rPr>
              <a:t>3.66x</a:t>
            </a:r>
            <a:endParaRPr lang="zh-CN" altLang="en-US" sz="1200" b="1">
              <a:solidFill>
                <a:srgbClr val="1F2937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2260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8724D84-6D90-D133-1097-4DC31F9DF4A8}"/>
              </a:ext>
            </a:extLst>
          </p:cNvPr>
          <p:cNvSpPr txBox="1"/>
          <p:nvPr/>
        </p:nvSpPr>
        <p:spPr>
          <a:xfrm>
            <a:off x="660400" y="355600"/>
            <a:ext cx="1092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100" b="1">
                <a:solidFill>
                  <a:srgbClr val="2A9DBC"/>
                </a:solidFill>
                <a:latin typeface="Microsoft YaHei" panose="020B0503020204020204" pitchFamily="34" charset="-122"/>
              </a:rPr>
              <a:t>hardware capability vs system measurement</a:t>
            </a:r>
            <a:endParaRPr lang="zh-CN" altLang="en-US" sz="11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93E037-8D2C-9FB8-CF8B-284E764CD0A2}"/>
              </a:ext>
            </a:extLst>
          </p:cNvPr>
          <p:cNvSpPr txBox="1"/>
          <p:nvPr/>
        </p:nvSpPr>
        <p:spPr>
          <a:xfrm>
            <a:off x="635000" y="635000"/>
            <a:ext cx="10922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物理</a:t>
            </a:r>
            <a:r>
              <a:rPr lang="en-US" altLang="zh-CN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/</a:t>
            </a:r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硬件限制与优化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413F92-2F65-AF02-46AD-C3690DD15AE6}"/>
              </a:ext>
            </a:extLst>
          </p:cNvPr>
          <p:cNvSpPr/>
          <p:nvPr/>
        </p:nvSpPr>
        <p:spPr>
          <a:xfrm>
            <a:off x="660400" y="1371600"/>
            <a:ext cx="812800" cy="381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86F3941-5062-AF59-893D-FB575A2A6B91}"/>
              </a:ext>
            </a:extLst>
          </p:cNvPr>
          <p:cNvSpPr txBox="1"/>
          <p:nvPr/>
        </p:nvSpPr>
        <p:spPr>
          <a:xfrm>
            <a:off x="9321800" y="6502400"/>
            <a:ext cx="2286000" cy="25135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800">
                <a:solidFill>
                  <a:srgbClr val="636F82"/>
                </a:solidFill>
                <a:latin typeface="Microsoft YaHei" panose="020B0503020204020204" pitchFamily="34" charset="-122"/>
              </a:rPr>
              <a:t>PXP technical review | 7</a:t>
            </a:r>
            <a:endParaRPr lang="zh-CN" altLang="en-US" sz="800">
              <a:solidFill>
                <a:srgbClr val="636F8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BEAF2F-2CD1-F527-214E-7438EB432981}"/>
              </a:ext>
            </a:extLst>
          </p:cNvPr>
          <p:cNvSpPr/>
          <p:nvPr/>
        </p:nvSpPr>
        <p:spPr>
          <a:xfrm>
            <a:off x="685800" y="1854200"/>
            <a:ext cx="2533650" cy="10668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6E65D5-399C-75F5-9711-FC5FB6069AFA}"/>
              </a:ext>
            </a:extLst>
          </p:cNvPr>
          <p:cNvSpPr txBox="1"/>
          <p:nvPr/>
        </p:nvSpPr>
        <p:spPr>
          <a:xfrm>
            <a:off x="762000" y="1955800"/>
            <a:ext cx="238125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Software TB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9D98967C-466B-34AB-89B8-E6E37F2274D5}"/>
              </a:ext>
            </a:extLst>
          </p:cNvPr>
          <p:cNvSpPr/>
          <p:nvPr/>
        </p:nvSpPr>
        <p:spPr>
          <a:xfrm>
            <a:off x="3244850" y="23114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912F4A-3B23-C559-73B2-28881FB8D349}"/>
              </a:ext>
            </a:extLst>
          </p:cNvPr>
          <p:cNvSpPr/>
          <p:nvPr/>
        </p:nvSpPr>
        <p:spPr>
          <a:xfrm>
            <a:off x="3448050" y="1854200"/>
            <a:ext cx="2533650" cy="10668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5998F0-23BB-6EEA-866F-FA6A36017C91}"/>
              </a:ext>
            </a:extLst>
          </p:cNvPr>
          <p:cNvSpPr txBox="1"/>
          <p:nvPr/>
        </p:nvSpPr>
        <p:spPr>
          <a:xfrm>
            <a:off x="3524250" y="1955800"/>
            <a:ext cx="238125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SA sync boundary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F9A87D9C-1D4C-3987-D38D-414457C31DC3}"/>
              </a:ext>
            </a:extLst>
          </p:cNvPr>
          <p:cNvSpPr/>
          <p:nvPr/>
        </p:nvSpPr>
        <p:spPr>
          <a:xfrm>
            <a:off x="6007100" y="23114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92056F6-8499-8536-A2F9-99458994DB37}"/>
              </a:ext>
            </a:extLst>
          </p:cNvPr>
          <p:cNvSpPr/>
          <p:nvPr/>
        </p:nvSpPr>
        <p:spPr>
          <a:xfrm>
            <a:off x="6210300" y="1854200"/>
            <a:ext cx="2533650" cy="10668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7DA3F7D-5BC6-14EC-F95E-3A50CC9F72F0}"/>
              </a:ext>
            </a:extLst>
          </p:cNvPr>
          <p:cNvSpPr txBox="1"/>
          <p:nvPr/>
        </p:nvSpPr>
        <p:spPr>
          <a:xfrm>
            <a:off x="6286500" y="1955800"/>
            <a:ext cx="238125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PXP hardware DUT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185FFC82-2F83-FB43-B817-31E0768F7E11}"/>
              </a:ext>
            </a:extLst>
          </p:cNvPr>
          <p:cNvSpPr/>
          <p:nvPr/>
        </p:nvSpPr>
        <p:spPr>
          <a:xfrm>
            <a:off x="8769350" y="2311400"/>
            <a:ext cx="177800" cy="152400"/>
          </a:xfrm>
          <a:prstGeom prst="rightArrow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EFD5842-125A-0FAE-A9E4-BEA4483EEC81}"/>
              </a:ext>
            </a:extLst>
          </p:cNvPr>
          <p:cNvSpPr/>
          <p:nvPr/>
        </p:nvSpPr>
        <p:spPr>
          <a:xfrm>
            <a:off x="8972550" y="1854200"/>
            <a:ext cx="2533650" cy="1066800"/>
          </a:xfrm>
          <a:prstGeom prst="rect">
            <a:avLst/>
          </a:prstGeom>
          <a:solidFill>
            <a:srgbClr val="F5F7FA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58F4E4B-2F10-9CA4-DDCC-FDDFAFB8F396}"/>
              </a:ext>
            </a:extLst>
          </p:cNvPr>
          <p:cNvSpPr txBox="1"/>
          <p:nvPr/>
        </p:nvSpPr>
        <p:spPr>
          <a:xfrm>
            <a:off x="9048750" y="1955800"/>
            <a:ext cx="238125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 b="1">
                <a:solidFill>
                  <a:srgbClr val="142C48"/>
                </a:solidFill>
                <a:latin typeface="Microsoft YaHei" panose="020B0503020204020204" pitchFamily="34" charset="-122"/>
              </a:rPr>
              <a:t>Event / visibility feedback</a:t>
            </a:r>
            <a:endParaRPr lang="zh-CN" altLang="en-US" sz="1200" b="1">
              <a:solidFill>
                <a:srgbClr val="142C4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2C8DB6-86CE-9071-7920-2BAA3969DECB}"/>
              </a:ext>
            </a:extLst>
          </p:cNvPr>
          <p:cNvSpPr/>
          <p:nvPr/>
        </p:nvSpPr>
        <p:spPr>
          <a:xfrm>
            <a:off x="914400" y="3429000"/>
            <a:ext cx="317500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7BFA012-C58C-2569-3E43-85EC0F6065E3}"/>
              </a:ext>
            </a:extLst>
          </p:cNvPr>
          <p:cNvSpPr/>
          <p:nvPr/>
        </p:nvSpPr>
        <p:spPr>
          <a:xfrm>
            <a:off x="914400" y="3429000"/>
            <a:ext cx="63500" cy="1447800"/>
          </a:xfrm>
          <a:prstGeom prst="rect">
            <a:avLst/>
          </a:prstGeom>
          <a:solidFill>
            <a:srgbClr val="3E96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4887CFB-4A22-26F2-7D56-259E12B6D9F4}"/>
              </a:ext>
            </a:extLst>
          </p:cNvPr>
          <p:cNvSpPr txBox="1"/>
          <p:nvPr/>
        </p:nvSpPr>
        <p:spPr>
          <a:xfrm>
            <a:off x="1092200" y="3556000"/>
            <a:ext cx="2870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3E9668"/>
                </a:solidFill>
                <a:latin typeface="Microsoft YaHei" panose="020B0503020204020204" pitchFamily="34" charset="-122"/>
              </a:rPr>
              <a:t>优势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EE105CA-9B64-FECB-25FD-0D12D9E43031}"/>
              </a:ext>
            </a:extLst>
          </p:cNvPr>
          <p:cNvSpPr txBox="1"/>
          <p:nvPr/>
        </p:nvSpPr>
        <p:spPr>
          <a:xfrm>
            <a:off x="1092200" y="3924300"/>
            <a:ext cx="2870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DUT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在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PXP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硬件侧执行，可脱离纯软件事件仿真的低速。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9E2A19-D66F-A651-0D20-5461CEC0DB00}"/>
              </a:ext>
            </a:extLst>
          </p:cNvPr>
          <p:cNvSpPr/>
          <p:nvPr/>
        </p:nvSpPr>
        <p:spPr>
          <a:xfrm>
            <a:off x="4495800" y="3429000"/>
            <a:ext cx="317500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1001EC-F453-0122-B79C-2C168F40FFF0}"/>
              </a:ext>
            </a:extLst>
          </p:cNvPr>
          <p:cNvSpPr/>
          <p:nvPr/>
        </p:nvSpPr>
        <p:spPr>
          <a:xfrm>
            <a:off x="4495800" y="3429000"/>
            <a:ext cx="63500" cy="14478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A1BCD39-DEBC-5E3E-0A10-4968D5399EE1}"/>
              </a:ext>
            </a:extLst>
          </p:cNvPr>
          <p:cNvSpPr txBox="1"/>
          <p:nvPr/>
        </p:nvSpPr>
        <p:spPr>
          <a:xfrm>
            <a:off x="4673600" y="3556000"/>
            <a:ext cx="2870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DC8433"/>
                </a:solidFill>
                <a:latin typeface="Microsoft YaHei" panose="020B0503020204020204" pitchFamily="34" charset="-122"/>
              </a:rPr>
              <a:t>限制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4F30A47-0B1C-AC7D-EB6C-2E236AE55921}"/>
              </a:ext>
            </a:extLst>
          </p:cNvPr>
          <p:cNvSpPr txBox="1"/>
          <p:nvPr/>
        </p:nvSpPr>
        <p:spPr>
          <a:xfrm>
            <a:off x="4673600" y="3924300"/>
            <a:ext cx="2870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当前是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IXCOM SA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testbench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仍在软件侧，事件需跨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host/emulator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边界。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F92AAF3-A68C-7B65-3522-E5911CEB98E9}"/>
              </a:ext>
            </a:extLst>
          </p:cNvPr>
          <p:cNvSpPr/>
          <p:nvPr/>
        </p:nvSpPr>
        <p:spPr>
          <a:xfrm>
            <a:off x="8077200" y="3429000"/>
            <a:ext cx="3175000" cy="14478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2D63F13-7D93-9D18-19E6-EDD12A8E7D54}"/>
              </a:ext>
            </a:extLst>
          </p:cNvPr>
          <p:cNvSpPr/>
          <p:nvPr/>
        </p:nvSpPr>
        <p:spPr>
          <a:xfrm>
            <a:off x="8077200" y="3429000"/>
            <a:ext cx="63500" cy="1447800"/>
          </a:xfrm>
          <a:prstGeom prst="rect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9AD1A13-D3CE-475E-5CA4-79999FE758C0}"/>
              </a:ext>
            </a:extLst>
          </p:cNvPr>
          <p:cNvSpPr txBox="1"/>
          <p:nvPr/>
        </p:nvSpPr>
        <p:spPr>
          <a:xfrm>
            <a:off x="8255000" y="3556000"/>
            <a:ext cx="2870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2A6FB0"/>
                </a:solidFill>
                <a:latin typeface="Microsoft YaHei" panose="020B0503020204020204" pitchFamily="34" charset="-122"/>
              </a:rPr>
              <a:t>优化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7B0A7A3-6D90-D7FF-D85B-B4C7C18D135F}"/>
              </a:ext>
            </a:extLst>
          </p:cNvPr>
          <p:cNvSpPr txBox="1"/>
          <p:nvPr/>
        </p:nvSpPr>
        <p:spPr>
          <a:xfrm>
            <a:off x="8255000" y="3924300"/>
            <a:ext cx="2870200" cy="682238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性能跑保持最小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visibility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；减少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waveform/probe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；把激励和检查靠近硬件侧。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B4F0975-F7B3-B80E-0640-0BEE7DAA8EE2}"/>
              </a:ext>
            </a:extLst>
          </p:cNvPr>
          <p:cNvSpPr txBox="1"/>
          <p:nvPr/>
        </p:nvSpPr>
        <p:spPr>
          <a:xfrm>
            <a:off x="1193800" y="5410200"/>
            <a:ext cx="9652000" cy="37446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600" b="1">
                <a:solidFill>
                  <a:srgbClr val="142C48"/>
                </a:solidFill>
                <a:latin typeface="Microsoft YaHei" panose="020B0503020204020204" pitchFamily="34" charset="-122"/>
              </a:rPr>
              <a:t>结论：</a:t>
            </a:r>
            <a:r>
              <a:rPr lang="en-US" altLang="zh-CN" sz="1600" b="1">
                <a:solidFill>
                  <a:srgbClr val="142C48"/>
                </a:solidFill>
                <a:latin typeface="Microsoft YaHei" panose="020B0503020204020204" pitchFamily="34" charset="-122"/>
              </a:rPr>
              <a:t>PXP </a:t>
            </a:r>
            <a:r>
              <a:rPr lang="zh-CN" altLang="en-US" sz="1600" b="1">
                <a:solidFill>
                  <a:srgbClr val="142C48"/>
                </a:solidFill>
                <a:latin typeface="Microsoft YaHei" panose="020B0503020204020204" pitchFamily="34" charset="-122"/>
              </a:rPr>
              <a:t>的硬件能力存在，但当前 </a:t>
            </a:r>
            <a:r>
              <a:rPr lang="en-US" altLang="zh-CN" sz="1600" b="1">
                <a:solidFill>
                  <a:srgbClr val="142C48"/>
                </a:solidFill>
                <a:latin typeface="Microsoft YaHei" panose="020B0503020204020204" pitchFamily="34" charset="-122"/>
              </a:rPr>
              <a:t>workload </a:t>
            </a:r>
            <a:r>
              <a:rPr lang="zh-CN" altLang="en-US" sz="1600" b="1">
                <a:solidFill>
                  <a:srgbClr val="142C48"/>
                </a:solidFill>
                <a:latin typeface="Microsoft YaHei" panose="020B0503020204020204" pitchFamily="34" charset="-122"/>
              </a:rPr>
              <a:t>的实测速率被边界交互限制。</a:t>
            </a:r>
          </a:p>
        </p:txBody>
      </p:sp>
    </p:spTree>
    <p:extLst>
      <p:ext uri="{BB962C8B-B14F-4D97-AF65-F5344CB8AC3E}">
        <p14:creationId xmlns:p14="http://schemas.microsoft.com/office/powerpoint/2010/main" val="2418846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9A05D0B-8835-D2E0-2F1B-97B5B567E750}"/>
              </a:ext>
            </a:extLst>
          </p:cNvPr>
          <p:cNvSpPr txBox="1"/>
          <p:nvPr/>
        </p:nvSpPr>
        <p:spPr>
          <a:xfrm>
            <a:off x="660400" y="355600"/>
            <a:ext cx="1092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100" b="1">
                <a:solidFill>
                  <a:srgbClr val="2A9DBC"/>
                </a:solidFill>
                <a:latin typeface="Microsoft YaHei" panose="020B0503020204020204" pitchFamily="34" charset="-122"/>
              </a:rPr>
              <a:t>event-driven simulation meets hardware boundary</a:t>
            </a:r>
            <a:endParaRPr lang="zh-CN" altLang="en-US" sz="11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D639A1-CBA6-3201-840D-6CBF31BE2698}"/>
              </a:ext>
            </a:extLst>
          </p:cNvPr>
          <p:cNvSpPr txBox="1"/>
          <p:nvPr/>
        </p:nvSpPr>
        <p:spPr>
          <a:xfrm>
            <a:off x="635000" y="635000"/>
            <a:ext cx="10922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计算机科学限制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0F9E7F-3DAD-E517-D13C-A1DF2920104E}"/>
              </a:ext>
            </a:extLst>
          </p:cNvPr>
          <p:cNvSpPr/>
          <p:nvPr/>
        </p:nvSpPr>
        <p:spPr>
          <a:xfrm>
            <a:off x="660400" y="1371600"/>
            <a:ext cx="812800" cy="381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2CE875-7C9A-60D8-65BF-5CE794529D73}"/>
              </a:ext>
            </a:extLst>
          </p:cNvPr>
          <p:cNvSpPr txBox="1"/>
          <p:nvPr/>
        </p:nvSpPr>
        <p:spPr>
          <a:xfrm>
            <a:off x="9321800" y="6502400"/>
            <a:ext cx="2286000" cy="25135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800">
                <a:solidFill>
                  <a:srgbClr val="636F82"/>
                </a:solidFill>
                <a:latin typeface="Microsoft YaHei" panose="020B0503020204020204" pitchFamily="34" charset="-122"/>
              </a:rPr>
              <a:t>PXP technical review | 8</a:t>
            </a:r>
            <a:endParaRPr lang="zh-CN" altLang="en-US" sz="800">
              <a:solidFill>
                <a:srgbClr val="636F8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EBA7F8F-96B0-5746-F7EF-71122FAFCD49}"/>
              </a:ext>
            </a:extLst>
          </p:cNvPr>
          <p:cNvSpPr/>
          <p:nvPr/>
        </p:nvSpPr>
        <p:spPr>
          <a:xfrm>
            <a:off x="914400" y="1803400"/>
            <a:ext cx="3175000" cy="14224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750CA4A-55F6-E18C-66E5-5C69443B4CD6}"/>
              </a:ext>
            </a:extLst>
          </p:cNvPr>
          <p:cNvSpPr/>
          <p:nvPr/>
        </p:nvSpPr>
        <p:spPr>
          <a:xfrm>
            <a:off x="914400" y="1803400"/>
            <a:ext cx="63500" cy="1422400"/>
          </a:xfrm>
          <a:prstGeom prst="rect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6B5E2D-3F10-E456-BA01-013D87AF5C1D}"/>
              </a:ext>
            </a:extLst>
          </p:cNvPr>
          <p:cNvSpPr txBox="1"/>
          <p:nvPr/>
        </p:nvSpPr>
        <p:spPr>
          <a:xfrm>
            <a:off x="1092200" y="1930400"/>
            <a:ext cx="2870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2A6FB0"/>
                </a:solidFill>
                <a:latin typeface="Microsoft YaHei" panose="020B0503020204020204" pitchFamily="34" charset="-122"/>
              </a:rPr>
              <a:t>事件驱动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66CD59-3945-5705-A638-759F43F78E98}"/>
              </a:ext>
            </a:extLst>
          </p:cNvPr>
          <p:cNvSpPr txBox="1"/>
          <p:nvPr/>
        </p:nvSpPr>
        <p:spPr>
          <a:xfrm>
            <a:off x="1092200" y="2298700"/>
            <a:ext cx="2870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软件仿真按事件调度；跨边界事件会放大调度和通信开销。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07C167-930C-FA08-4E1C-1757E1E3781A}"/>
              </a:ext>
            </a:extLst>
          </p:cNvPr>
          <p:cNvSpPr/>
          <p:nvPr/>
        </p:nvSpPr>
        <p:spPr>
          <a:xfrm>
            <a:off x="4495800" y="1803400"/>
            <a:ext cx="3175000" cy="14224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8CD4F0-7052-54B4-ABA1-8E5028D44B30}"/>
              </a:ext>
            </a:extLst>
          </p:cNvPr>
          <p:cNvSpPr/>
          <p:nvPr/>
        </p:nvSpPr>
        <p:spPr>
          <a:xfrm>
            <a:off x="4495800" y="1803400"/>
            <a:ext cx="63500" cy="14224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F11609-5568-651E-2688-F405A8073EAF}"/>
              </a:ext>
            </a:extLst>
          </p:cNvPr>
          <p:cNvSpPr txBox="1"/>
          <p:nvPr/>
        </p:nvSpPr>
        <p:spPr>
          <a:xfrm>
            <a:off x="4673600" y="1930400"/>
            <a:ext cx="2870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DC8433"/>
                </a:solidFill>
                <a:latin typeface="Microsoft YaHei" panose="020B0503020204020204" pitchFamily="34" charset="-122"/>
              </a:rPr>
              <a:t>高交互 </a:t>
            </a:r>
            <a:r>
              <a:rPr lang="en-US" altLang="zh-CN" sz="1400" b="1">
                <a:solidFill>
                  <a:srgbClr val="DC8433"/>
                </a:solidFill>
                <a:latin typeface="Microsoft YaHei" panose="020B0503020204020204" pitchFamily="34" charset="-122"/>
              </a:rPr>
              <a:t>workload</a:t>
            </a:r>
            <a:endParaRPr lang="zh-CN" altLang="en-US" sz="1400" b="1">
              <a:solidFill>
                <a:srgbClr val="DC8433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E994FC4-A8B3-4387-551B-60D2A2429D46}"/>
              </a:ext>
            </a:extLst>
          </p:cNvPr>
          <p:cNvSpPr txBox="1"/>
          <p:nvPr/>
        </p:nvSpPr>
        <p:spPr>
          <a:xfrm>
            <a:off x="4673600" y="2298700"/>
            <a:ext cx="2870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每周期驱动一个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operation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，会产生频繁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tbsync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150E78-A0C0-79AA-E95D-424F9A543275}"/>
              </a:ext>
            </a:extLst>
          </p:cNvPr>
          <p:cNvSpPr/>
          <p:nvPr/>
        </p:nvSpPr>
        <p:spPr>
          <a:xfrm>
            <a:off x="8077200" y="1803400"/>
            <a:ext cx="3175000" cy="14224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FBC7E16-13B8-01A8-B611-B74F45D944DD}"/>
              </a:ext>
            </a:extLst>
          </p:cNvPr>
          <p:cNvSpPr/>
          <p:nvPr/>
        </p:nvSpPr>
        <p:spPr>
          <a:xfrm>
            <a:off x="8077200" y="1803400"/>
            <a:ext cx="63500" cy="1422400"/>
          </a:xfrm>
          <a:prstGeom prst="rect">
            <a:avLst/>
          </a:prstGeom>
          <a:solidFill>
            <a:srgbClr val="3E96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50CF9A1-2A00-3127-BB5A-3E929B986BBE}"/>
              </a:ext>
            </a:extLst>
          </p:cNvPr>
          <p:cNvSpPr txBox="1"/>
          <p:nvPr/>
        </p:nvSpPr>
        <p:spPr>
          <a:xfrm>
            <a:off x="8255000" y="1930400"/>
            <a:ext cx="2870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400" b="1">
                <a:solidFill>
                  <a:srgbClr val="3E9668"/>
                </a:solidFill>
                <a:latin typeface="Microsoft YaHei" panose="020B0503020204020204" pitchFamily="34" charset="-122"/>
              </a:rPr>
              <a:t>I/O </a:t>
            </a:r>
            <a:r>
              <a:rPr lang="zh-CN" altLang="en-US" sz="1400" b="1">
                <a:solidFill>
                  <a:srgbClr val="3E9668"/>
                </a:solidFill>
                <a:latin typeface="Microsoft YaHei" panose="020B0503020204020204" pitchFamily="34" charset="-122"/>
              </a:rPr>
              <a:t>污染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8B0CBCE-205B-63F4-7C2D-6D9CA322B984}"/>
              </a:ext>
            </a:extLst>
          </p:cNvPr>
          <p:cNvSpPr txBox="1"/>
          <p:nvPr/>
        </p:nvSpPr>
        <p:spPr>
          <a:xfrm>
            <a:off x="8255000" y="2298700"/>
            <a:ext cx="2870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$display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	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ee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log file I/O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会影响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runtime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，因此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stress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默认低打印。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13C9DF1-30A1-7163-050A-33C4E97CB131}"/>
              </a:ext>
            </a:extLst>
          </p:cNvPr>
          <p:cNvSpPr txBox="1"/>
          <p:nvPr/>
        </p:nvSpPr>
        <p:spPr>
          <a:xfrm>
            <a:off x="1168400" y="3886200"/>
            <a:ext cx="2794000" cy="359073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500" b="1">
                <a:solidFill>
                  <a:srgbClr val="2A9DBC"/>
                </a:solidFill>
                <a:latin typeface="Microsoft YaHei" panose="020B0503020204020204" pitchFamily="34" charset="-122"/>
              </a:rPr>
              <a:t>1M log evidence</a:t>
            </a:r>
            <a:endParaRPr lang="zh-CN" altLang="en-US" sz="15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3BB3D73-0E8F-C1CB-9BFA-E29EB55AFBB1}"/>
              </a:ext>
            </a:extLst>
          </p:cNvPr>
          <p:cNvSpPr txBox="1"/>
          <p:nvPr/>
        </p:nvSpPr>
        <p:spPr>
          <a:xfrm>
            <a:off x="1168400" y="4267200"/>
            <a:ext cx="9652000" cy="866904"/>
          </a:xfrm>
          <a:prstGeom prst="rect">
            <a:avLst/>
          </a:prstGeom>
          <a:solidFill>
            <a:srgbClr val="0F172A"/>
          </a:solidFill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600" b="1">
                <a:solidFill>
                  <a:srgbClr val="FFFFFF"/>
                </a:solidFill>
                <a:latin typeface="Microsoft YaHei" panose="020B0503020204020204" pitchFamily="34" charset="-122"/>
              </a:rPr>
              <a:t>--- HW execs 2002000 evals ... 2002000 tbsyncs ...
--- HW execs 52646856 input events
--- HW execs 3568441 output events</a:t>
            </a:r>
            <a:endParaRPr lang="zh-CN" altLang="en-US" sz="1600" b="1">
              <a:solidFill>
                <a:srgbClr val="FFFFFF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5B8833-DD2E-1F90-B7C1-8F137EAA853D}"/>
              </a:ext>
            </a:extLst>
          </p:cNvPr>
          <p:cNvSpPr txBox="1"/>
          <p:nvPr/>
        </p:nvSpPr>
        <p:spPr>
          <a:xfrm>
            <a:off x="1168400" y="5715000"/>
            <a:ext cx="9779000" cy="359073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500" b="1">
                <a:solidFill>
                  <a:srgbClr val="142C48"/>
                </a:solidFill>
                <a:latin typeface="Microsoft YaHei" panose="020B0503020204020204" pitchFamily="34" charset="-122"/>
              </a:rPr>
              <a:t>优化方向：批处理、减少同步点、复用 </a:t>
            </a:r>
            <a:r>
              <a:rPr lang="en-US" altLang="zh-CN" sz="1500" b="1">
                <a:solidFill>
                  <a:srgbClr val="142C48"/>
                </a:solidFill>
                <a:latin typeface="Microsoft YaHei" panose="020B0503020204020204" pitchFamily="34" charset="-122"/>
              </a:rPr>
              <a:t>snapshot/hardware database</a:t>
            </a:r>
            <a:r>
              <a:rPr lang="zh-CN" altLang="en-US" sz="1500" b="1">
                <a:solidFill>
                  <a:srgbClr val="142C48"/>
                </a:solidFill>
                <a:latin typeface="Microsoft YaHei" panose="020B0503020204020204" pitchFamily="34" charset="-122"/>
              </a:rPr>
              <a:t>、固定低打印 </a:t>
            </a:r>
            <a:r>
              <a:rPr lang="en-US" altLang="zh-CN" sz="1500" b="1">
                <a:solidFill>
                  <a:srgbClr val="142C48"/>
                </a:solidFill>
                <a:latin typeface="Microsoft YaHei" panose="020B0503020204020204" pitchFamily="34" charset="-122"/>
              </a:rPr>
              <a:t>stress path</a:t>
            </a:r>
            <a:r>
              <a:rPr lang="zh-CN" altLang="en-US" sz="1500" b="1">
                <a:solidFill>
                  <a:srgbClr val="142C48"/>
                </a:solidFill>
                <a:latin typeface="Microsoft YaHei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96044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097F99A-E058-4D80-A2A8-451C6D0CB395}"/>
              </a:ext>
            </a:extLst>
          </p:cNvPr>
          <p:cNvSpPr txBox="1"/>
          <p:nvPr/>
        </p:nvSpPr>
        <p:spPr>
          <a:xfrm>
            <a:off x="660400" y="355600"/>
            <a:ext cx="1092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100" b="1">
                <a:solidFill>
                  <a:srgbClr val="2A9DBC"/>
                </a:solidFill>
                <a:latin typeface="Microsoft YaHei" panose="020B0503020204020204" pitchFamily="34" charset="-122"/>
              </a:rPr>
              <a:t>risk / benefit view</a:t>
            </a:r>
            <a:endParaRPr lang="zh-CN" altLang="en-US" sz="11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CF7143-80C5-0F81-D9C5-B68F483BDD5C}"/>
              </a:ext>
            </a:extLst>
          </p:cNvPr>
          <p:cNvSpPr txBox="1"/>
          <p:nvPr/>
        </p:nvSpPr>
        <p:spPr>
          <a:xfrm>
            <a:off x="635000" y="635000"/>
            <a:ext cx="10922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优化可能性矩阵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5D93517-E55D-F6AB-696A-263A0520C6D6}"/>
              </a:ext>
            </a:extLst>
          </p:cNvPr>
          <p:cNvSpPr/>
          <p:nvPr/>
        </p:nvSpPr>
        <p:spPr>
          <a:xfrm>
            <a:off x="660400" y="1371600"/>
            <a:ext cx="812800" cy="381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59394D-FE2C-8C65-6DB2-573825BFDB9D}"/>
              </a:ext>
            </a:extLst>
          </p:cNvPr>
          <p:cNvSpPr txBox="1"/>
          <p:nvPr/>
        </p:nvSpPr>
        <p:spPr>
          <a:xfrm>
            <a:off x="9321800" y="6502400"/>
            <a:ext cx="2286000" cy="25135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800">
                <a:solidFill>
                  <a:srgbClr val="636F82"/>
                </a:solidFill>
                <a:latin typeface="Microsoft YaHei" panose="020B0503020204020204" pitchFamily="34" charset="-122"/>
              </a:rPr>
              <a:t>PXP technical review | 9</a:t>
            </a:r>
            <a:endParaRPr lang="zh-CN" altLang="en-US" sz="800">
              <a:solidFill>
                <a:srgbClr val="636F82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91E5755-0741-3CD1-85C1-DCDC338A1A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771532"/>
              </p:ext>
            </p:extLst>
          </p:nvPr>
        </p:nvGraphicFramePr>
        <p:xfrm>
          <a:off x="787400" y="1752600"/>
          <a:ext cx="10617200" cy="309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300">
                  <a:extLst>
                    <a:ext uri="{9D8B030D-6E8A-4147-A177-3AD203B41FA5}">
                      <a16:colId xmlns:a16="http://schemas.microsoft.com/office/drawing/2014/main" val="1966748247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802375276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4248290718"/>
                    </a:ext>
                  </a:extLst>
                </a:gridCol>
                <a:gridCol w="2654300">
                  <a:extLst>
                    <a:ext uri="{9D8B030D-6E8A-4147-A177-3AD203B41FA5}">
                      <a16:colId xmlns:a16="http://schemas.microsoft.com/office/drawing/2014/main" val="1348067388"/>
                    </a:ext>
                  </a:extLst>
                </a:gridCol>
              </a:tblGrid>
              <a:tr h="5164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优化方向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风险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收益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说明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174719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减少日志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可见性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低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中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性能跑默认策略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120168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批量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stimulus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中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减少每周期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host/PXP </a:t>
                      </a:r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同步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816414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硬件侧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driver/checker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中高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高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把交互下沉到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emulator </a:t>
                      </a:r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侧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745638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compile once replay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中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中高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摊薄编译与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swap </a:t>
                      </a:r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固定成本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290411"/>
                  </a:ext>
                </a:extLst>
              </a:tr>
              <a:tr h="516467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更多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seeds/longer workload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低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中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提升可信度和趋势稳定性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151881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B7041196-51D6-5B61-8423-9B28F327AF11}"/>
              </a:ext>
            </a:extLst>
          </p:cNvPr>
          <p:cNvSpPr txBox="1"/>
          <p:nvPr/>
        </p:nvSpPr>
        <p:spPr>
          <a:xfrm>
            <a:off x="1295400" y="5384800"/>
            <a:ext cx="9398000" cy="405239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b="1">
                <a:solidFill>
                  <a:srgbClr val="142C48"/>
                </a:solidFill>
                <a:latin typeface="Microsoft YaHei" panose="020B0503020204020204" pitchFamily="34" charset="-122"/>
              </a:rPr>
              <a:t>推荐顺序：先低风险工程化，再做结构性同步优化。</a:t>
            </a:r>
          </a:p>
        </p:txBody>
      </p:sp>
    </p:spTree>
    <p:extLst>
      <p:ext uri="{BB962C8B-B14F-4D97-AF65-F5344CB8AC3E}">
        <p14:creationId xmlns:p14="http://schemas.microsoft.com/office/powerpoint/2010/main" val="3398602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33B9240-16A7-C9B8-2D13-685B48260FDB}"/>
              </a:ext>
            </a:extLst>
          </p:cNvPr>
          <p:cNvSpPr txBox="1"/>
          <p:nvPr/>
        </p:nvSpPr>
        <p:spPr>
          <a:xfrm>
            <a:off x="660400" y="355600"/>
            <a:ext cx="1092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100" b="1">
                <a:solidFill>
                  <a:srgbClr val="2A9DBC"/>
                </a:solidFill>
                <a:latin typeface="Microsoft YaHei" panose="020B0503020204020204" pitchFamily="34" charset="-122"/>
              </a:rPr>
              <a:t>what the numbers mean</a:t>
            </a:r>
            <a:endParaRPr lang="zh-CN" altLang="en-US" sz="11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8C7073D-19DA-D3FA-2F60-D5183ABC457D}"/>
              </a:ext>
            </a:extLst>
          </p:cNvPr>
          <p:cNvSpPr txBox="1"/>
          <p:nvPr/>
        </p:nvSpPr>
        <p:spPr>
          <a:xfrm>
            <a:off x="635000" y="635000"/>
            <a:ext cx="10922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风险与可信度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D5BCE7-B494-3648-99D8-C8D85C08615B}"/>
              </a:ext>
            </a:extLst>
          </p:cNvPr>
          <p:cNvSpPr/>
          <p:nvPr/>
        </p:nvSpPr>
        <p:spPr>
          <a:xfrm>
            <a:off x="660400" y="1371600"/>
            <a:ext cx="812800" cy="381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A42F13-7572-3930-2B3B-77F1E334A296}"/>
              </a:ext>
            </a:extLst>
          </p:cNvPr>
          <p:cNvSpPr txBox="1"/>
          <p:nvPr/>
        </p:nvSpPr>
        <p:spPr>
          <a:xfrm>
            <a:off x="9321800" y="6502400"/>
            <a:ext cx="2286000" cy="25135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800">
                <a:solidFill>
                  <a:srgbClr val="636F82"/>
                </a:solidFill>
                <a:latin typeface="Microsoft YaHei" panose="020B0503020204020204" pitchFamily="34" charset="-122"/>
              </a:rPr>
              <a:t>PXP technical review | 10</a:t>
            </a:r>
            <a:endParaRPr lang="zh-CN" altLang="en-US" sz="800">
              <a:solidFill>
                <a:srgbClr val="636F8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171F3C-BFFF-4751-3EE6-DB102EE99FB4}"/>
              </a:ext>
            </a:extLst>
          </p:cNvPr>
          <p:cNvSpPr/>
          <p:nvPr/>
        </p:nvSpPr>
        <p:spPr>
          <a:xfrm>
            <a:off x="889000" y="1879600"/>
            <a:ext cx="49784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F7C0B8-A14E-D9C0-4791-8F6DA6CCED27}"/>
              </a:ext>
            </a:extLst>
          </p:cNvPr>
          <p:cNvSpPr/>
          <p:nvPr/>
        </p:nvSpPr>
        <p:spPr>
          <a:xfrm>
            <a:off x="889000" y="1879600"/>
            <a:ext cx="63500" cy="1524000"/>
          </a:xfrm>
          <a:prstGeom prst="rect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C9B1984-E3DA-E2A3-C8B4-7DC3F261F021}"/>
              </a:ext>
            </a:extLst>
          </p:cNvPr>
          <p:cNvSpPr txBox="1"/>
          <p:nvPr/>
        </p:nvSpPr>
        <p:spPr>
          <a:xfrm>
            <a:off x="1066800" y="2006600"/>
            <a:ext cx="46736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2A6FB0"/>
                </a:solidFill>
                <a:latin typeface="Microsoft YaHei" panose="020B0503020204020204" pitchFamily="34" charset="-122"/>
              </a:rPr>
              <a:t>主指标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5AAB34-2521-3BAE-5172-DCF80C218C35}"/>
              </a:ext>
            </a:extLst>
          </p:cNvPr>
          <p:cNvSpPr txBox="1"/>
          <p:nvPr/>
        </p:nvSpPr>
        <p:spPr>
          <a:xfrm>
            <a:off x="1066800" y="2374900"/>
            <a:ext cx="46736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使用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PXP real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：包含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reserve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xeDebug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host connection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swap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HW exec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cleanup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72BBE9-60B8-2816-39A3-75FCEDF11E69}"/>
              </a:ext>
            </a:extLst>
          </p:cNvPr>
          <p:cNvSpPr/>
          <p:nvPr/>
        </p:nvSpPr>
        <p:spPr>
          <a:xfrm>
            <a:off x="6350000" y="1879600"/>
            <a:ext cx="49784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273D3A-7706-FB5C-C32C-7D61747424F6}"/>
              </a:ext>
            </a:extLst>
          </p:cNvPr>
          <p:cNvSpPr/>
          <p:nvPr/>
        </p:nvSpPr>
        <p:spPr>
          <a:xfrm>
            <a:off x="6350000" y="1879600"/>
            <a:ext cx="63500" cy="15240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862BFF2-59FF-968C-B593-7B9E31C34AD8}"/>
              </a:ext>
            </a:extLst>
          </p:cNvPr>
          <p:cNvSpPr txBox="1"/>
          <p:nvPr/>
        </p:nvSpPr>
        <p:spPr>
          <a:xfrm>
            <a:off x="6527800" y="2006600"/>
            <a:ext cx="46736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DC8433"/>
                </a:solidFill>
                <a:latin typeface="Microsoft YaHei" panose="020B0503020204020204" pitchFamily="34" charset="-122"/>
              </a:rPr>
              <a:t>避免过度乐观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434361-FB32-3000-CAAB-4D73994B526F}"/>
              </a:ext>
            </a:extLst>
          </p:cNvPr>
          <p:cNvSpPr txBox="1"/>
          <p:nvPr/>
        </p:nvSpPr>
        <p:spPr>
          <a:xfrm>
            <a:off x="6527800" y="2374900"/>
            <a:ext cx="46736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HW exec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展示硬件潜力，但不是完整用户等待时间。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396BC19-F8A7-C061-C849-DFAACA9111EE}"/>
              </a:ext>
            </a:extLst>
          </p:cNvPr>
          <p:cNvSpPr/>
          <p:nvPr/>
        </p:nvSpPr>
        <p:spPr>
          <a:xfrm>
            <a:off x="889000" y="3860800"/>
            <a:ext cx="49784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E9777F-BD9C-C37F-24C2-2A724490912D}"/>
              </a:ext>
            </a:extLst>
          </p:cNvPr>
          <p:cNvSpPr/>
          <p:nvPr/>
        </p:nvSpPr>
        <p:spPr>
          <a:xfrm>
            <a:off x="889000" y="3860800"/>
            <a:ext cx="63500" cy="1524000"/>
          </a:xfrm>
          <a:prstGeom prst="rect">
            <a:avLst/>
          </a:prstGeom>
          <a:solidFill>
            <a:srgbClr val="3E96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A6DA6B2-04F2-3EEF-02A2-AB3F007EA314}"/>
              </a:ext>
            </a:extLst>
          </p:cNvPr>
          <p:cNvSpPr txBox="1"/>
          <p:nvPr/>
        </p:nvSpPr>
        <p:spPr>
          <a:xfrm>
            <a:off x="1066800" y="3987800"/>
            <a:ext cx="46736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3E9668"/>
                </a:solidFill>
                <a:latin typeface="Microsoft YaHei" panose="020B0503020204020204" pitchFamily="34" charset="-122"/>
              </a:rPr>
              <a:t>实测边界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7F6679E-3DFA-4046-459C-46B6D927F0F3}"/>
              </a:ext>
            </a:extLst>
          </p:cNvPr>
          <p:cNvSpPr txBox="1"/>
          <p:nvPr/>
        </p:nvSpPr>
        <p:spPr>
          <a:xfrm>
            <a:off x="1066800" y="4356100"/>
            <a:ext cx="4673600" cy="312906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26K-27K cycles/s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是当前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SA workload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实测，不是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PXP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峰值。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5F07D70-7F3D-B4DB-DBE7-8C8650C6BBC3}"/>
              </a:ext>
            </a:extLst>
          </p:cNvPr>
          <p:cNvSpPr/>
          <p:nvPr/>
        </p:nvSpPr>
        <p:spPr>
          <a:xfrm>
            <a:off x="6350000" y="3860800"/>
            <a:ext cx="4978400" cy="15240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74729A-0962-F219-1D12-6D2503149309}"/>
              </a:ext>
            </a:extLst>
          </p:cNvPr>
          <p:cNvSpPr/>
          <p:nvPr/>
        </p:nvSpPr>
        <p:spPr>
          <a:xfrm>
            <a:off x="6350000" y="3860800"/>
            <a:ext cx="63500" cy="1524000"/>
          </a:xfrm>
          <a:prstGeom prst="rect">
            <a:avLst/>
          </a:prstGeom>
          <a:solidFill>
            <a:srgbClr val="2A9D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D89E9D-04DA-A314-DE23-3F083A410E09}"/>
              </a:ext>
            </a:extLst>
          </p:cNvPr>
          <p:cNvSpPr txBox="1"/>
          <p:nvPr/>
        </p:nvSpPr>
        <p:spPr>
          <a:xfrm>
            <a:off x="6527800" y="3987800"/>
            <a:ext cx="46736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2A9DBC"/>
                </a:solidFill>
                <a:latin typeface="Microsoft YaHei" panose="020B0503020204020204" pitchFamily="34" charset="-122"/>
              </a:rPr>
              <a:t>脱敏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51B577-F336-3AB4-40CC-633E1AC0507A}"/>
              </a:ext>
            </a:extLst>
          </p:cNvPr>
          <p:cNvSpPr txBox="1"/>
          <p:nvPr/>
        </p:nvSpPr>
        <p:spPr>
          <a:xfrm>
            <a:off x="6527800" y="4356100"/>
            <a:ext cx="46736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汇报材料使用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&lt;pxp-host&gt;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&lt;jump-host&gt;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&lt;pxp-user&gt;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等占位符。</a:t>
            </a:r>
          </a:p>
        </p:txBody>
      </p:sp>
    </p:spTree>
    <p:extLst>
      <p:ext uri="{BB962C8B-B14F-4D97-AF65-F5344CB8AC3E}">
        <p14:creationId xmlns:p14="http://schemas.microsoft.com/office/powerpoint/2010/main" val="28759410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2A86952-CB7B-27B7-9EB3-41FF8A62106A}"/>
              </a:ext>
            </a:extLst>
          </p:cNvPr>
          <p:cNvSpPr txBox="1"/>
          <p:nvPr/>
        </p:nvSpPr>
        <p:spPr>
          <a:xfrm>
            <a:off x="660400" y="355600"/>
            <a:ext cx="1092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100" b="1">
                <a:solidFill>
                  <a:srgbClr val="2A9DBC"/>
                </a:solidFill>
                <a:latin typeface="Microsoft YaHei" panose="020B0503020204020204" pitchFamily="34" charset="-122"/>
              </a:rPr>
              <a:t>coverage / performance / automation</a:t>
            </a:r>
            <a:endParaRPr lang="zh-CN" altLang="en-US" sz="11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5375B5-856C-149F-7FE0-5AADD8AE4B54}"/>
              </a:ext>
            </a:extLst>
          </p:cNvPr>
          <p:cNvSpPr txBox="1"/>
          <p:nvPr/>
        </p:nvSpPr>
        <p:spPr>
          <a:xfrm>
            <a:off x="635000" y="635000"/>
            <a:ext cx="10922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下一步计划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0D2F6C-46DE-9B47-80F6-26303079B0DF}"/>
              </a:ext>
            </a:extLst>
          </p:cNvPr>
          <p:cNvSpPr/>
          <p:nvPr/>
        </p:nvSpPr>
        <p:spPr>
          <a:xfrm>
            <a:off x="660400" y="1371600"/>
            <a:ext cx="812800" cy="381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3D447D-F719-24D9-3606-62C978E2711D}"/>
              </a:ext>
            </a:extLst>
          </p:cNvPr>
          <p:cNvSpPr txBox="1"/>
          <p:nvPr/>
        </p:nvSpPr>
        <p:spPr>
          <a:xfrm>
            <a:off x="9321800" y="6502400"/>
            <a:ext cx="2286000" cy="25135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800">
                <a:solidFill>
                  <a:srgbClr val="636F82"/>
                </a:solidFill>
                <a:latin typeface="Microsoft YaHei" panose="020B0503020204020204" pitchFamily="34" charset="-122"/>
              </a:rPr>
              <a:t>PXP technical review | 11</a:t>
            </a:r>
            <a:endParaRPr lang="zh-CN" altLang="en-US" sz="800">
              <a:solidFill>
                <a:srgbClr val="636F82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30AA0B-C115-26A2-00E5-1FFCF6E99E1C}"/>
              </a:ext>
            </a:extLst>
          </p:cNvPr>
          <p:cNvSpPr/>
          <p:nvPr/>
        </p:nvSpPr>
        <p:spPr>
          <a:xfrm>
            <a:off x="914400" y="1879600"/>
            <a:ext cx="31750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8EF6D5-35B0-53F3-7679-697F03E57305}"/>
              </a:ext>
            </a:extLst>
          </p:cNvPr>
          <p:cNvSpPr/>
          <p:nvPr/>
        </p:nvSpPr>
        <p:spPr>
          <a:xfrm>
            <a:off x="914400" y="1879600"/>
            <a:ext cx="63500" cy="1600200"/>
          </a:xfrm>
          <a:prstGeom prst="rect">
            <a:avLst/>
          </a:prstGeom>
          <a:solidFill>
            <a:srgbClr val="2A6FB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074DB3-72A0-1B36-54DB-5A011F3EF2A6}"/>
              </a:ext>
            </a:extLst>
          </p:cNvPr>
          <p:cNvSpPr txBox="1"/>
          <p:nvPr/>
        </p:nvSpPr>
        <p:spPr>
          <a:xfrm>
            <a:off x="1092200" y="2006600"/>
            <a:ext cx="2870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2A6FB0"/>
                </a:solidFill>
                <a:latin typeface="Microsoft YaHei" panose="020B0503020204020204" pitchFamily="34" charset="-122"/>
              </a:rPr>
              <a:t>功能覆盖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15A575E-C333-00D7-0740-C5884CD84A5E}"/>
              </a:ext>
            </a:extLst>
          </p:cNvPr>
          <p:cNvSpPr txBox="1"/>
          <p:nvPr/>
        </p:nvSpPr>
        <p:spPr>
          <a:xfrm>
            <a:off x="1092200" y="2374900"/>
            <a:ext cx="2870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compare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sign/minmax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special values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rounding/conversion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01C53E-3438-AFA9-2D07-A26B83E7C466}"/>
              </a:ext>
            </a:extLst>
          </p:cNvPr>
          <p:cNvSpPr/>
          <p:nvPr/>
        </p:nvSpPr>
        <p:spPr>
          <a:xfrm>
            <a:off x="4495800" y="1879600"/>
            <a:ext cx="31750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828688-0674-2DE2-D865-B6CDAB95B9B5}"/>
              </a:ext>
            </a:extLst>
          </p:cNvPr>
          <p:cNvSpPr/>
          <p:nvPr/>
        </p:nvSpPr>
        <p:spPr>
          <a:xfrm>
            <a:off x="4495800" y="1879600"/>
            <a:ext cx="63500" cy="1600200"/>
          </a:xfrm>
          <a:prstGeom prst="rect">
            <a:avLst/>
          </a:prstGeom>
          <a:solidFill>
            <a:srgbClr val="2A9DB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D5C8B0-761A-388D-F425-15603A0C35E6}"/>
              </a:ext>
            </a:extLst>
          </p:cNvPr>
          <p:cNvSpPr txBox="1"/>
          <p:nvPr/>
        </p:nvSpPr>
        <p:spPr>
          <a:xfrm>
            <a:off x="4673600" y="2006600"/>
            <a:ext cx="2870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2A9DBC"/>
                </a:solidFill>
                <a:latin typeface="Microsoft YaHei" panose="020B0503020204020204" pitchFamily="34" charset="-122"/>
              </a:rPr>
              <a:t>正确性检查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28DB026-4019-D622-0FA3-D3BD08150AE8}"/>
              </a:ext>
            </a:extLst>
          </p:cNvPr>
          <p:cNvSpPr txBox="1"/>
          <p:nvPr/>
        </p:nvSpPr>
        <p:spPr>
          <a:xfrm>
            <a:off x="4673600" y="2374900"/>
            <a:ext cx="2870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补精确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result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fflags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writeback order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35237E2-2753-A752-6468-88CF23919262}"/>
              </a:ext>
            </a:extLst>
          </p:cNvPr>
          <p:cNvSpPr/>
          <p:nvPr/>
        </p:nvSpPr>
        <p:spPr>
          <a:xfrm>
            <a:off x="8077200" y="1879600"/>
            <a:ext cx="317500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AEBEA8-D75D-76C1-6F22-852F3FAB8442}"/>
              </a:ext>
            </a:extLst>
          </p:cNvPr>
          <p:cNvSpPr/>
          <p:nvPr/>
        </p:nvSpPr>
        <p:spPr>
          <a:xfrm>
            <a:off x="8077200" y="1879600"/>
            <a:ext cx="63500" cy="1600200"/>
          </a:xfrm>
          <a:prstGeom prst="rect">
            <a:avLst/>
          </a:prstGeom>
          <a:solidFill>
            <a:srgbClr val="3E96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B8788B6-E9D2-BBD1-E6C8-56B5F483C8E9}"/>
              </a:ext>
            </a:extLst>
          </p:cNvPr>
          <p:cNvSpPr txBox="1"/>
          <p:nvPr/>
        </p:nvSpPr>
        <p:spPr>
          <a:xfrm>
            <a:off x="8255000" y="2006600"/>
            <a:ext cx="2870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3E9668"/>
                </a:solidFill>
                <a:latin typeface="Microsoft YaHei" panose="020B0503020204020204" pitchFamily="34" charset="-122"/>
              </a:rPr>
              <a:t>性能优化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81E4255-99EF-AABA-8910-B186F5465011}"/>
              </a:ext>
            </a:extLst>
          </p:cNvPr>
          <p:cNvSpPr txBox="1"/>
          <p:nvPr/>
        </p:nvSpPr>
        <p:spPr>
          <a:xfrm>
            <a:off x="8255000" y="2374900"/>
            <a:ext cx="2870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减少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tbsync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；尝试批量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stimulus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或硬件侧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driver/checker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12A0FA-D9F5-477B-4A4A-2BFDD9749B20}"/>
              </a:ext>
            </a:extLst>
          </p:cNvPr>
          <p:cNvSpPr/>
          <p:nvPr/>
        </p:nvSpPr>
        <p:spPr>
          <a:xfrm>
            <a:off x="2717800" y="4140200"/>
            <a:ext cx="3175000" cy="14224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6C5EE05-7ACB-D799-1752-5B4A2DF824B2}"/>
              </a:ext>
            </a:extLst>
          </p:cNvPr>
          <p:cNvSpPr/>
          <p:nvPr/>
        </p:nvSpPr>
        <p:spPr>
          <a:xfrm>
            <a:off x="2717800" y="4140200"/>
            <a:ext cx="63500" cy="14224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D470C9B-593B-72FA-3ACE-6A3B60588946}"/>
              </a:ext>
            </a:extLst>
          </p:cNvPr>
          <p:cNvSpPr txBox="1"/>
          <p:nvPr/>
        </p:nvSpPr>
        <p:spPr>
          <a:xfrm>
            <a:off x="2895600" y="4267200"/>
            <a:ext cx="2870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DC8433"/>
                </a:solidFill>
                <a:latin typeface="Microsoft YaHei" panose="020B0503020204020204" pitchFamily="34" charset="-122"/>
              </a:rPr>
              <a:t>工程化复用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B9D86A-9343-CF41-DE7A-7B2A20BE46EB}"/>
              </a:ext>
            </a:extLst>
          </p:cNvPr>
          <p:cNvSpPr txBox="1"/>
          <p:nvPr/>
        </p:nvSpPr>
        <p:spPr>
          <a:xfrm>
            <a:off x="2895600" y="4635500"/>
            <a:ext cx="2870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固定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matrix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summary.tsv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、低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visibility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性能模式。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3761129-2BBB-5971-4302-2045CE90E37B}"/>
              </a:ext>
            </a:extLst>
          </p:cNvPr>
          <p:cNvSpPr/>
          <p:nvPr/>
        </p:nvSpPr>
        <p:spPr>
          <a:xfrm>
            <a:off x="6299200" y="4140200"/>
            <a:ext cx="3175000" cy="1422400"/>
          </a:xfrm>
          <a:prstGeom prst="rect">
            <a:avLst/>
          </a:prstGeom>
          <a:solidFill>
            <a:srgbClr val="FFFFFF"/>
          </a:solidFill>
          <a:ln>
            <a:solidFill>
              <a:srgbClr val="D8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DD1D2E-EC5C-1AEF-8D6D-047B8DB7B2DC}"/>
              </a:ext>
            </a:extLst>
          </p:cNvPr>
          <p:cNvSpPr/>
          <p:nvPr/>
        </p:nvSpPr>
        <p:spPr>
          <a:xfrm>
            <a:off x="6299200" y="4140200"/>
            <a:ext cx="63500" cy="1422400"/>
          </a:xfrm>
          <a:prstGeom prst="rect">
            <a:avLst/>
          </a:prstGeom>
          <a:solidFill>
            <a:srgbClr val="BC4D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058842D-27ED-68A8-411C-C1D9383BF01A}"/>
              </a:ext>
            </a:extLst>
          </p:cNvPr>
          <p:cNvSpPr txBox="1"/>
          <p:nvPr/>
        </p:nvSpPr>
        <p:spPr>
          <a:xfrm>
            <a:off x="6477000" y="4267200"/>
            <a:ext cx="28702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 b="1">
                <a:solidFill>
                  <a:srgbClr val="BC4D4D"/>
                </a:solidFill>
                <a:latin typeface="Microsoft YaHei" panose="020B0503020204020204" pitchFamily="34" charset="-122"/>
              </a:rPr>
              <a:t>数据扩展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6EA4720-0E66-CF00-5465-9DE5CEFFF575}"/>
              </a:ext>
            </a:extLst>
          </p:cNvPr>
          <p:cNvSpPr txBox="1"/>
          <p:nvPr/>
        </p:nvSpPr>
        <p:spPr>
          <a:xfrm>
            <a:off x="6477000" y="4635500"/>
            <a:ext cx="2870200" cy="497572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更多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seeds 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和更长 </a:t>
            </a:r>
            <a:r>
              <a:rPr lang="en-US" altLang="zh-CN" sz="1200">
                <a:solidFill>
                  <a:srgbClr val="1F2937"/>
                </a:solidFill>
                <a:latin typeface="Microsoft YaHei" panose="020B0503020204020204" pitchFamily="34" charset="-122"/>
              </a:rPr>
              <a:t>workload</a:t>
            </a:r>
            <a:r>
              <a:rPr lang="zh-CN" altLang="en-US" sz="1200">
                <a:solidFill>
                  <a:srgbClr val="1F2937"/>
                </a:solidFill>
                <a:latin typeface="Microsoft YaHei" panose="020B0503020204020204" pitchFamily="34" charset="-122"/>
              </a:rPr>
              <a:t>，增强趋势可信度。</a:t>
            </a:r>
          </a:p>
        </p:txBody>
      </p:sp>
    </p:spTree>
    <p:extLst>
      <p:ext uri="{BB962C8B-B14F-4D97-AF65-F5344CB8AC3E}">
        <p14:creationId xmlns:p14="http://schemas.microsoft.com/office/powerpoint/2010/main" val="1701090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25D40C-20B4-DD17-5124-ACECC16B4323}"/>
              </a:ext>
            </a:extLst>
          </p:cNvPr>
          <p:cNvSpPr txBox="1"/>
          <p:nvPr/>
        </p:nvSpPr>
        <p:spPr>
          <a:xfrm>
            <a:off x="660400" y="355600"/>
            <a:ext cx="10922000" cy="297517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1100" b="1">
                <a:solidFill>
                  <a:srgbClr val="2A9DBC"/>
                </a:solidFill>
                <a:latin typeface="Microsoft YaHei" panose="020B0503020204020204" pitchFamily="34" charset="-122"/>
              </a:rPr>
              <a:t>debug checklist</a:t>
            </a:r>
            <a:endParaRPr lang="zh-CN" altLang="en-US" sz="1100" b="1">
              <a:solidFill>
                <a:srgbClr val="2A9DB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20D2003-8694-8DCD-A57A-CD0826D3B385}"/>
              </a:ext>
            </a:extLst>
          </p:cNvPr>
          <p:cNvSpPr txBox="1"/>
          <p:nvPr/>
        </p:nvSpPr>
        <p:spPr>
          <a:xfrm>
            <a:off x="635000" y="635000"/>
            <a:ext cx="10922000" cy="528350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2600" b="1">
                <a:solidFill>
                  <a:srgbClr val="142C48"/>
                </a:solidFill>
                <a:latin typeface="Microsoft YaHei" panose="020B0503020204020204" pitchFamily="34" charset="-122"/>
              </a:rPr>
              <a:t>备份页：常见问题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2A68D8-FCCD-25F6-2354-08C68919504F}"/>
              </a:ext>
            </a:extLst>
          </p:cNvPr>
          <p:cNvSpPr/>
          <p:nvPr/>
        </p:nvSpPr>
        <p:spPr>
          <a:xfrm>
            <a:off x="660400" y="1371600"/>
            <a:ext cx="812800" cy="38100"/>
          </a:xfrm>
          <a:prstGeom prst="rect">
            <a:avLst/>
          </a:prstGeom>
          <a:solidFill>
            <a:srgbClr val="DC843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5124CF-F6AD-04F6-56E7-83719FA8D3B4}"/>
              </a:ext>
            </a:extLst>
          </p:cNvPr>
          <p:cNvSpPr txBox="1"/>
          <p:nvPr/>
        </p:nvSpPr>
        <p:spPr>
          <a:xfrm>
            <a:off x="9321800" y="6502400"/>
            <a:ext cx="2286000" cy="251351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en-US" altLang="zh-CN" sz="800">
                <a:solidFill>
                  <a:srgbClr val="636F82"/>
                </a:solidFill>
                <a:latin typeface="Microsoft YaHei" panose="020B0503020204020204" pitchFamily="34" charset="-122"/>
              </a:rPr>
              <a:t>PXP technical review | 12</a:t>
            </a:r>
            <a:endParaRPr lang="zh-CN" altLang="en-US" sz="800">
              <a:solidFill>
                <a:srgbClr val="636F82"/>
              </a:solidFill>
              <a:latin typeface="Microsoft YaHei" panose="020B0503020204020204" pitchFamily="34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17B6BC3-0B07-3B36-2AB2-8D109C9864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822478"/>
              </p:ext>
            </p:extLst>
          </p:nvPr>
        </p:nvGraphicFramePr>
        <p:xfrm>
          <a:off x="812800" y="1727200"/>
          <a:ext cx="1056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2133">
                  <a:extLst>
                    <a:ext uri="{9D8B030D-6E8A-4147-A177-3AD203B41FA5}">
                      <a16:colId xmlns:a16="http://schemas.microsoft.com/office/drawing/2014/main" val="2822611343"/>
                    </a:ext>
                  </a:extLst>
                </a:gridCol>
                <a:gridCol w="3522133">
                  <a:extLst>
                    <a:ext uri="{9D8B030D-6E8A-4147-A177-3AD203B41FA5}">
                      <a16:colId xmlns:a16="http://schemas.microsoft.com/office/drawing/2014/main" val="1003844886"/>
                    </a:ext>
                  </a:extLst>
                </a:gridCol>
                <a:gridCol w="3522133">
                  <a:extLst>
                    <a:ext uri="{9D8B030D-6E8A-4147-A177-3AD203B41FA5}">
                      <a16:colId xmlns:a16="http://schemas.microsoft.com/office/drawing/2014/main" val="3672322902"/>
                    </a:ext>
                  </a:extLst>
                </a:gridCol>
              </a:tblGrid>
              <a:tr h="522514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问题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现象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FFFFFF"/>
                          </a:solidFill>
                          <a:latin typeface="Microsoft YaHei" panose="020B0503020204020204" pitchFamily="34" charset="-122"/>
                        </a:rPr>
                        <a:t>处理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38100" cmpd="sng">
                      <a:solidFill>
                        <a:srgbClr val="D8DEE8"/>
                      </a:solidFill>
                    </a:lnB>
                    <a:solidFill>
                      <a:srgbClr val="142C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701759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.design </a:t>
                      </a:r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丢失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xeDebug </a:t>
                      </a:r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读不到设计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重跑硬件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compile/elaborate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381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284865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只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reserve </a:t>
                      </a:r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未下载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RESERVED*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执行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xc on -run -xt0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658438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xc on -run </a:t>
                      </a:r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失败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X values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使用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-xt0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162631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xeDebug -key </a:t>
                      </a:r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无效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option ignored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用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xeset reserveKey &lt;key&gt;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632849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10M timeout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[ERROR] timeout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TIMEOUT_CYCLES = 20000000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265746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top </a:t>
                      </a:r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名错误</a:t>
                      </a: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查不到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location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使用 </a:t>
                      </a:r>
                      <a:r>
                        <a:rPr lang="en-US" altLang="zh-CN" sz="1000">
                          <a:solidFill>
                            <a:srgbClr val="1F2937"/>
                          </a:solidFill>
                          <a:latin typeface="Microsoft YaHei" panose="020B0503020204020204" pitchFamily="34" charset="-122"/>
                        </a:rPr>
                        <a:t>xcva_top</a:t>
                      </a:r>
                      <a:endParaRPr lang="zh-CN" altLang="en-US" sz="1000">
                        <a:solidFill>
                          <a:srgbClr val="1F2937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lnL w="12700" cmpd="sng">
                      <a:solidFill>
                        <a:srgbClr val="D8DEE8"/>
                      </a:solidFill>
                    </a:lnL>
                    <a:lnR w="12700" cmpd="sng">
                      <a:solidFill>
                        <a:srgbClr val="D8DEE8"/>
                      </a:solidFill>
                    </a:lnR>
                    <a:lnT w="12700" cmpd="sng">
                      <a:solidFill>
                        <a:srgbClr val="D8DEE8"/>
                      </a:solidFill>
                    </a:lnT>
                    <a:lnB w="12700" cmpd="sng">
                      <a:solidFill>
                        <a:srgbClr val="D8DE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2857704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33819296-D3A8-F6B4-451D-5D38395F9BDB}"/>
              </a:ext>
            </a:extLst>
          </p:cNvPr>
          <p:cNvSpPr txBox="1"/>
          <p:nvPr/>
        </p:nvSpPr>
        <p:spPr>
          <a:xfrm>
            <a:off x="1193800" y="5867400"/>
            <a:ext cx="9652000" cy="343684"/>
          </a:xfrm>
          <a:prstGeom prst="rect">
            <a:avLst/>
          </a:prstGeom>
          <a:noFill/>
        </p:spPr>
        <p:txBody>
          <a:bodyPr vert="horz" wrap="square" lIns="101600" tIns="63500" rIns="101600" bIns="63500" rtlCol="0">
            <a:spAutoFit/>
          </a:bodyPr>
          <a:lstStyle/>
          <a:p>
            <a:r>
              <a:rPr lang="zh-CN" altLang="en-US" sz="1400">
                <a:solidFill>
                  <a:srgbClr val="636F82"/>
                </a:solidFill>
                <a:latin typeface="Microsoft YaHei" panose="020B0503020204020204" pitchFamily="34" charset="-122"/>
              </a:rPr>
              <a:t>这页用于评审答疑，尤其是 </a:t>
            </a:r>
            <a:r>
              <a:rPr lang="en-US" altLang="zh-CN" sz="1400">
                <a:solidFill>
                  <a:srgbClr val="636F82"/>
                </a:solidFill>
                <a:latin typeface="Microsoft YaHei" panose="020B0503020204020204" pitchFamily="34" charset="-122"/>
              </a:rPr>
              <a:t>reservation</a:t>
            </a:r>
            <a:r>
              <a:rPr lang="zh-CN" altLang="en-US" sz="1400">
                <a:solidFill>
                  <a:srgbClr val="636F82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36F82"/>
                </a:solidFill>
                <a:latin typeface="Microsoft YaHei" panose="020B0503020204020204" pitchFamily="34" charset="-122"/>
              </a:rPr>
              <a:t>hot swap</a:t>
            </a:r>
            <a:r>
              <a:rPr lang="zh-CN" altLang="en-US" sz="1400">
                <a:solidFill>
                  <a:srgbClr val="636F82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400">
                <a:solidFill>
                  <a:srgbClr val="636F82"/>
                </a:solidFill>
                <a:latin typeface="Microsoft YaHei" panose="020B0503020204020204" pitchFamily="34" charset="-122"/>
              </a:rPr>
              <a:t>timeout </a:t>
            </a:r>
            <a:r>
              <a:rPr lang="zh-CN" altLang="en-US" sz="1400">
                <a:solidFill>
                  <a:srgbClr val="636F82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400">
                <a:solidFill>
                  <a:srgbClr val="636F82"/>
                </a:solidFill>
                <a:latin typeface="Microsoft YaHei" panose="020B0503020204020204" pitchFamily="34" charset="-122"/>
              </a:rPr>
              <a:t>top name </a:t>
            </a:r>
            <a:r>
              <a:rPr lang="zh-CN" altLang="en-US" sz="1400">
                <a:solidFill>
                  <a:srgbClr val="636F82"/>
                </a:solidFill>
                <a:latin typeface="Microsoft YaHei" panose="020B0503020204020204" pitchFamily="34" charset="-122"/>
              </a:rPr>
              <a:t>问题。</a:t>
            </a:r>
          </a:p>
        </p:txBody>
      </p:sp>
    </p:spTree>
    <p:extLst>
      <p:ext uri="{BB962C8B-B14F-4D97-AF65-F5344CB8AC3E}">
        <p14:creationId xmlns:p14="http://schemas.microsoft.com/office/powerpoint/2010/main" val="309584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1193</Words>
  <Application>Microsoft Office PowerPoint</Application>
  <PresentationFormat>自定义</PresentationFormat>
  <Paragraphs>215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lih</dc:creator>
  <cp:lastModifiedBy>lih</cp:lastModifiedBy>
  <cp:revision>1</cp:revision>
  <dcterms:created xsi:type="dcterms:W3CDTF">2026-06-08T01:33:10Z</dcterms:created>
  <dcterms:modified xsi:type="dcterms:W3CDTF">2026-06-08T01:33:10Z</dcterms:modified>
</cp:coreProperties>
</file>